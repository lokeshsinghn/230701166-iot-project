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8"/>
  </p:notesMasterIdLst>
  <p:sldIdLst>
    <p:sldId id="292" r:id="rId5"/>
    <p:sldId id="293" r:id="rId6"/>
    <p:sldId id="284" r:id="rId7"/>
    <p:sldId id="294" r:id="rId8"/>
    <p:sldId id="295" r:id="rId9"/>
    <p:sldId id="285" r:id="rId10"/>
    <p:sldId id="286" r:id="rId11"/>
    <p:sldId id="287" r:id="rId12"/>
    <p:sldId id="289" r:id="rId13"/>
    <p:sldId id="291" r:id="rId14"/>
    <p:sldId id="282" r:id="rId15"/>
    <p:sldId id="296" r:id="rId16"/>
    <p:sldId id="29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86A9"/>
    <a:srgbClr val="7FDFFF"/>
    <a:srgbClr val="5898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18FDBE-66F8-412E-8922-65147727BE06}" v="116" dt="2025-05-02T16:52:55.787"/>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70" d="100"/>
          <a:sy n="70" d="100"/>
        </p:scale>
        <p:origin x="116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D21A8A-9CB1-4F44-9748-0FE6CF4BE3EA}" type="datetimeFigureOut">
              <a:rPr lang="en-IN" smtClean="0"/>
              <a:t>02-05-2025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294A3B-49E6-4C4F-8154-0F575434A699}" type="slidenum">
              <a:rPr lang="en-IN" smtClean="0"/>
              <a:t>‹#›</a:t>
            </a:fld>
            <a:endParaRPr lang="en-IN"/>
          </a:p>
        </p:txBody>
      </p:sp>
    </p:spTree>
    <p:extLst>
      <p:ext uri="{BB962C8B-B14F-4D97-AF65-F5344CB8AC3E}">
        <p14:creationId xmlns:p14="http://schemas.microsoft.com/office/powerpoint/2010/main" val="3373705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1294A3B-49E6-4C4F-8154-0F575434A699}" type="slidenum">
              <a:rPr lang="en-IN" smtClean="0"/>
              <a:t>1</a:t>
            </a:fld>
            <a:endParaRPr lang="en-IN"/>
          </a:p>
        </p:txBody>
      </p:sp>
    </p:spTree>
    <p:extLst>
      <p:ext uri="{BB962C8B-B14F-4D97-AF65-F5344CB8AC3E}">
        <p14:creationId xmlns:p14="http://schemas.microsoft.com/office/powerpoint/2010/main" val="550773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1294A3B-49E6-4C4F-8154-0F575434A699}" type="slidenum">
              <a:rPr lang="en-IN" smtClean="0"/>
              <a:t>11</a:t>
            </a:fld>
            <a:endParaRPr lang="en-IN"/>
          </a:p>
        </p:txBody>
      </p:sp>
    </p:spTree>
    <p:extLst>
      <p:ext uri="{BB962C8B-B14F-4D97-AF65-F5344CB8AC3E}">
        <p14:creationId xmlns:p14="http://schemas.microsoft.com/office/powerpoint/2010/main" val="2018073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5/2/2025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902981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5/2/2025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06277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5/2/2025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664205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5/2/2025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15774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5/2/2025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20315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5/2/2025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343349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5/2/2025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51585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5/2/2025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058149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5/2/2025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25126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5/2/2025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19809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5/2/2025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681927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5/2/2025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520980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5/2/2025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063243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5/2/2025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797586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5/2/2025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2545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5/2/2025</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401274407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svg"/><Relationship Id="rId9"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A94A4C-52DE-D7A2-E964-C8B324CBBECF}"/>
              </a:ext>
            </a:extLst>
          </p:cNvPr>
          <p:cNvSpPr txBox="1"/>
          <p:nvPr/>
        </p:nvSpPr>
        <p:spPr>
          <a:xfrm>
            <a:off x="1606930" y="694173"/>
            <a:ext cx="9279081" cy="1200329"/>
          </a:xfrm>
          <a:prstGeom prst="rect">
            <a:avLst/>
          </a:prstGeom>
          <a:noFill/>
        </p:spPr>
        <p:txBody>
          <a:bodyPr wrap="square" rtlCol="0">
            <a:spAutoFit/>
          </a:bodyPr>
          <a:lstStyle/>
          <a:p>
            <a:pPr algn="ctr"/>
            <a:r>
              <a:rPr lang="en-IN" sz="3600" b="1" u="sng" dirty="0">
                <a:solidFill>
                  <a:schemeClr val="accent1"/>
                </a:solidFill>
                <a:latin typeface="Aharoni" panose="02010803020104030203" pitchFamily="2" charset="-79"/>
                <a:cs typeface="Aharoni" panose="02010803020104030203" pitchFamily="2" charset="-79"/>
              </a:rPr>
              <a:t>INTERNATIONAL MARIETIME BOUNADRY DETECTION SYSTEM</a:t>
            </a:r>
          </a:p>
        </p:txBody>
      </p:sp>
      <p:sp>
        <p:nvSpPr>
          <p:cNvPr id="3" name="TextBox 2">
            <a:extLst>
              <a:ext uri="{FF2B5EF4-FFF2-40B4-BE49-F238E27FC236}">
                <a16:creationId xmlns:a16="http://schemas.microsoft.com/office/drawing/2014/main" id="{E616179C-C431-6155-13EF-0478FAE1DCA5}"/>
              </a:ext>
            </a:extLst>
          </p:cNvPr>
          <p:cNvSpPr txBox="1"/>
          <p:nvPr/>
        </p:nvSpPr>
        <p:spPr>
          <a:xfrm>
            <a:off x="363683" y="2971719"/>
            <a:ext cx="4894118" cy="646331"/>
          </a:xfrm>
          <a:prstGeom prst="rect">
            <a:avLst/>
          </a:prstGeom>
          <a:noFill/>
        </p:spPr>
        <p:txBody>
          <a:bodyPr wrap="square" rtlCol="0">
            <a:spAutoFit/>
          </a:bodyPr>
          <a:lstStyle/>
          <a:p>
            <a:endParaRPr lang="en-IN" dirty="0"/>
          </a:p>
          <a:p>
            <a:endParaRPr lang="en-IN" dirty="0"/>
          </a:p>
        </p:txBody>
      </p:sp>
      <p:pic>
        <p:nvPicPr>
          <p:cNvPr id="1026" name="Picture 2">
            <a:extLst>
              <a:ext uri="{FF2B5EF4-FFF2-40B4-BE49-F238E27FC236}">
                <a16:creationId xmlns:a16="http://schemas.microsoft.com/office/drawing/2014/main" id="{74ACD7CE-3A61-76B4-317F-5380249CC0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2142" y="2098696"/>
            <a:ext cx="4620491" cy="4447309"/>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4" name="Rectangle 4">
            <a:extLst>
              <a:ext uri="{FF2B5EF4-FFF2-40B4-BE49-F238E27FC236}">
                <a16:creationId xmlns:a16="http://schemas.microsoft.com/office/drawing/2014/main" id="{50A80691-FDCA-2FA7-D616-0CAE0DD61F3C}"/>
              </a:ext>
            </a:extLst>
          </p:cNvPr>
          <p:cNvSpPr>
            <a:spLocks noChangeArrowheads="1"/>
          </p:cNvSpPr>
          <p:nvPr/>
        </p:nvSpPr>
        <p:spPr bwMode="auto">
          <a:xfrm>
            <a:off x="448344" y="2860413"/>
            <a:ext cx="5798127" cy="2923877"/>
          </a:xfrm>
          <a:custGeom>
            <a:avLst/>
            <a:gdLst>
              <a:gd name="connsiteX0" fmla="*/ 0 w 5798127"/>
              <a:gd name="connsiteY0" fmla="*/ 0 h 2923877"/>
              <a:gd name="connsiteX1" fmla="*/ 405869 w 5798127"/>
              <a:gd name="connsiteY1" fmla="*/ 0 h 2923877"/>
              <a:gd name="connsiteX2" fmla="*/ 811738 w 5798127"/>
              <a:gd name="connsiteY2" fmla="*/ 0 h 2923877"/>
              <a:gd name="connsiteX3" fmla="*/ 1333569 w 5798127"/>
              <a:gd name="connsiteY3" fmla="*/ 0 h 2923877"/>
              <a:gd name="connsiteX4" fmla="*/ 1913382 w 5798127"/>
              <a:gd name="connsiteY4" fmla="*/ 0 h 2923877"/>
              <a:gd name="connsiteX5" fmla="*/ 2319251 w 5798127"/>
              <a:gd name="connsiteY5" fmla="*/ 0 h 2923877"/>
              <a:gd name="connsiteX6" fmla="*/ 2841082 w 5798127"/>
              <a:gd name="connsiteY6" fmla="*/ 0 h 2923877"/>
              <a:gd name="connsiteX7" fmla="*/ 3246951 w 5798127"/>
              <a:gd name="connsiteY7" fmla="*/ 0 h 2923877"/>
              <a:gd name="connsiteX8" fmla="*/ 3884745 w 5798127"/>
              <a:gd name="connsiteY8" fmla="*/ 0 h 2923877"/>
              <a:gd name="connsiteX9" fmla="*/ 4464558 w 5798127"/>
              <a:gd name="connsiteY9" fmla="*/ 0 h 2923877"/>
              <a:gd name="connsiteX10" fmla="*/ 5044370 w 5798127"/>
              <a:gd name="connsiteY10" fmla="*/ 0 h 2923877"/>
              <a:gd name="connsiteX11" fmla="*/ 5798127 w 5798127"/>
              <a:gd name="connsiteY11" fmla="*/ 0 h 2923877"/>
              <a:gd name="connsiteX12" fmla="*/ 5798127 w 5798127"/>
              <a:gd name="connsiteY12" fmla="*/ 614014 h 2923877"/>
              <a:gd name="connsiteX13" fmla="*/ 5798127 w 5798127"/>
              <a:gd name="connsiteY13" fmla="*/ 1228028 h 2923877"/>
              <a:gd name="connsiteX14" fmla="*/ 5798127 w 5798127"/>
              <a:gd name="connsiteY14" fmla="*/ 1783565 h 2923877"/>
              <a:gd name="connsiteX15" fmla="*/ 5798127 w 5798127"/>
              <a:gd name="connsiteY15" fmla="*/ 2280624 h 2923877"/>
              <a:gd name="connsiteX16" fmla="*/ 5798127 w 5798127"/>
              <a:gd name="connsiteY16" fmla="*/ 2923877 h 2923877"/>
              <a:gd name="connsiteX17" fmla="*/ 5392258 w 5798127"/>
              <a:gd name="connsiteY17" fmla="*/ 2923877 h 2923877"/>
              <a:gd name="connsiteX18" fmla="*/ 4812445 w 5798127"/>
              <a:gd name="connsiteY18" fmla="*/ 2923877 h 2923877"/>
              <a:gd name="connsiteX19" fmla="*/ 4174651 w 5798127"/>
              <a:gd name="connsiteY19" fmla="*/ 2923877 h 2923877"/>
              <a:gd name="connsiteX20" fmla="*/ 3594839 w 5798127"/>
              <a:gd name="connsiteY20" fmla="*/ 2923877 h 2923877"/>
              <a:gd name="connsiteX21" fmla="*/ 3073007 w 5798127"/>
              <a:gd name="connsiteY21" fmla="*/ 2923877 h 2923877"/>
              <a:gd name="connsiteX22" fmla="*/ 2551176 w 5798127"/>
              <a:gd name="connsiteY22" fmla="*/ 2923877 h 2923877"/>
              <a:gd name="connsiteX23" fmla="*/ 2087326 w 5798127"/>
              <a:gd name="connsiteY23" fmla="*/ 2923877 h 2923877"/>
              <a:gd name="connsiteX24" fmla="*/ 1391550 w 5798127"/>
              <a:gd name="connsiteY24" fmla="*/ 2923877 h 2923877"/>
              <a:gd name="connsiteX25" fmla="*/ 811738 w 5798127"/>
              <a:gd name="connsiteY25" fmla="*/ 2923877 h 2923877"/>
              <a:gd name="connsiteX26" fmla="*/ 0 w 5798127"/>
              <a:gd name="connsiteY26" fmla="*/ 2923877 h 2923877"/>
              <a:gd name="connsiteX27" fmla="*/ 0 w 5798127"/>
              <a:gd name="connsiteY27" fmla="*/ 2426818 h 2923877"/>
              <a:gd name="connsiteX28" fmla="*/ 0 w 5798127"/>
              <a:gd name="connsiteY28" fmla="*/ 1783565 h 2923877"/>
              <a:gd name="connsiteX29" fmla="*/ 0 w 5798127"/>
              <a:gd name="connsiteY29" fmla="*/ 1286506 h 2923877"/>
              <a:gd name="connsiteX30" fmla="*/ 0 w 5798127"/>
              <a:gd name="connsiteY30" fmla="*/ 789447 h 2923877"/>
              <a:gd name="connsiteX31" fmla="*/ 0 w 5798127"/>
              <a:gd name="connsiteY31" fmla="*/ 0 h 2923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798127" h="2923877" fill="none" extrusionOk="0">
                <a:moveTo>
                  <a:pt x="0" y="0"/>
                </a:moveTo>
                <a:cubicBezTo>
                  <a:pt x="142979" y="-10682"/>
                  <a:pt x="212350" y="12478"/>
                  <a:pt x="405869" y="0"/>
                </a:cubicBezTo>
                <a:cubicBezTo>
                  <a:pt x="599388" y="-12478"/>
                  <a:pt x="650060" y="9467"/>
                  <a:pt x="811738" y="0"/>
                </a:cubicBezTo>
                <a:cubicBezTo>
                  <a:pt x="973416" y="-9467"/>
                  <a:pt x="1099807" y="42448"/>
                  <a:pt x="1333569" y="0"/>
                </a:cubicBezTo>
                <a:cubicBezTo>
                  <a:pt x="1567331" y="-42448"/>
                  <a:pt x="1729668" y="65701"/>
                  <a:pt x="1913382" y="0"/>
                </a:cubicBezTo>
                <a:cubicBezTo>
                  <a:pt x="2097096" y="-65701"/>
                  <a:pt x="2137578" y="30805"/>
                  <a:pt x="2319251" y="0"/>
                </a:cubicBezTo>
                <a:cubicBezTo>
                  <a:pt x="2500924" y="-30805"/>
                  <a:pt x="2728701" y="24342"/>
                  <a:pt x="2841082" y="0"/>
                </a:cubicBezTo>
                <a:cubicBezTo>
                  <a:pt x="2953463" y="-24342"/>
                  <a:pt x="3117886" y="40191"/>
                  <a:pt x="3246951" y="0"/>
                </a:cubicBezTo>
                <a:cubicBezTo>
                  <a:pt x="3376016" y="-40191"/>
                  <a:pt x="3748093" y="47212"/>
                  <a:pt x="3884745" y="0"/>
                </a:cubicBezTo>
                <a:cubicBezTo>
                  <a:pt x="4021397" y="-47212"/>
                  <a:pt x="4310632" y="40193"/>
                  <a:pt x="4464558" y="0"/>
                </a:cubicBezTo>
                <a:cubicBezTo>
                  <a:pt x="4618484" y="-40193"/>
                  <a:pt x="4824711" y="62202"/>
                  <a:pt x="5044370" y="0"/>
                </a:cubicBezTo>
                <a:cubicBezTo>
                  <a:pt x="5264029" y="-62202"/>
                  <a:pt x="5624749" y="74188"/>
                  <a:pt x="5798127" y="0"/>
                </a:cubicBezTo>
                <a:cubicBezTo>
                  <a:pt x="5841473" y="127703"/>
                  <a:pt x="5797665" y="327978"/>
                  <a:pt x="5798127" y="614014"/>
                </a:cubicBezTo>
                <a:cubicBezTo>
                  <a:pt x="5798589" y="900050"/>
                  <a:pt x="5780412" y="1022897"/>
                  <a:pt x="5798127" y="1228028"/>
                </a:cubicBezTo>
                <a:cubicBezTo>
                  <a:pt x="5815842" y="1433159"/>
                  <a:pt x="5753158" y="1596600"/>
                  <a:pt x="5798127" y="1783565"/>
                </a:cubicBezTo>
                <a:cubicBezTo>
                  <a:pt x="5843096" y="1970530"/>
                  <a:pt x="5794502" y="2161195"/>
                  <a:pt x="5798127" y="2280624"/>
                </a:cubicBezTo>
                <a:cubicBezTo>
                  <a:pt x="5801752" y="2400053"/>
                  <a:pt x="5798104" y="2649995"/>
                  <a:pt x="5798127" y="2923877"/>
                </a:cubicBezTo>
                <a:cubicBezTo>
                  <a:pt x="5648634" y="2954942"/>
                  <a:pt x="5479927" y="2896963"/>
                  <a:pt x="5392258" y="2923877"/>
                </a:cubicBezTo>
                <a:cubicBezTo>
                  <a:pt x="5304589" y="2950791"/>
                  <a:pt x="4978091" y="2919619"/>
                  <a:pt x="4812445" y="2923877"/>
                </a:cubicBezTo>
                <a:cubicBezTo>
                  <a:pt x="4646799" y="2928135"/>
                  <a:pt x="4381594" y="2874254"/>
                  <a:pt x="4174651" y="2923877"/>
                </a:cubicBezTo>
                <a:cubicBezTo>
                  <a:pt x="3967708" y="2973500"/>
                  <a:pt x="3745545" y="2891411"/>
                  <a:pt x="3594839" y="2923877"/>
                </a:cubicBezTo>
                <a:cubicBezTo>
                  <a:pt x="3444133" y="2956343"/>
                  <a:pt x="3238712" y="2911151"/>
                  <a:pt x="3073007" y="2923877"/>
                </a:cubicBezTo>
                <a:cubicBezTo>
                  <a:pt x="2907302" y="2936603"/>
                  <a:pt x="2669233" y="2867794"/>
                  <a:pt x="2551176" y="2923877"/>
                </a:cubicBezTo>
                <a:cubicBezTo>
                  <a:pt x="2433119" y="2979960"/>
                  <a:pt x="2199534" y="2899739"/>
                  <a:pt x="2087326" y="2923877"/>
                </a:cubicBezTo>
                <a:cubicBezTo>
                  <a:pt x="1975118" y="2948015"/>
                  <a:pt x="1564645" y="2912270"/>
                  <a:pt x="1391550" y="2923877"/>
                </a:cubicBezTo>
                <a:cubicBezTo>
                  <a:pt x="1218455" y="2935484"/>
                  <a:pt x="1071509" y="2921920"/>
                  <a:pt x="811738" y="2923877"/>
                </a:cubicBezTo>
                <a:cubicBezTo>
                  <a:pt x="551967" y="2925834"/>
                  <a:pt x="233315" y="2918353"/>
                  <a:pt x="0" y="2923877"/>
                </a:cubicBezTo>
                <a:cubicBezTo>
                  <a:pt x="-48473" y="2804657"/>
                  <a:pt x="8039" y="2640968"/>
                  <a:pt x="0" y="2426818"/>
                </a:cubicBezTo>
                <a:cubicBezTo>
                  <a:pt x="-8039" y="2212668"/>
                  <a:pt x="29560" y="2018867"/>
                  <a:pt x="0" y="1783565"/>
                </a:cubicBezTo>
                <a:cubicBezTo>
                  <a:pt x="-29560" y="1548263"/>
                  <a:pt x="23129" y="1455607"/>
                  <a:pt x="0" y="1286506"/>
                </a:cubicBezTo>
                <a:cubicBezTo>
                  <a:pt x="-23129" y="1117405"/>
                  <a:pt x="37242" y="895523"/>
                  <a:pt x="0" y="789447"/>
                </a:cubicBezTo>
                <a:cubicBezTo>
                  <a:pt x="-37242" y="683371"/>
                  <a:pt x="40376" y="192249"/>
                  <a:pt x="0" y="0"/>
                </a:cubicBezTo>
                <a:close/>
              </a:path>
              <a:path w="5798127" h="2923877" stroke="0" extrusionOk="0">
                <a:moveTo>
                  <a:pt x="0" y="0"/>
                </a:moveTo>
                <a:cubicBezTo>
                  <a:pt x="193159" y="-37543"/>
                  <a:pt x="352792" y="3356"/>
                  <a:pt x="463850" y="0"/>
                </a:cubicBezTo>
                <a:cubicBezTo>
                  <a:pt x="574908" y="-3356"/>
                  <a:pt x="704295" y="20999"/>
                  <a:pt x="869719" y="0"/>
                </a:cubicBezTo>
                <a:cubicBezTo>
                  <a:pt x="1035143" y="-20999"/>
                  <a:pt x="1185793" y="39650"/>
                  <a:pt x="1333569" y="0"/>
                </a:cubicBezTo>
                <a:cubicBezTo>
                  <a:pt x="1481345" y="-39650"/>
                  <a:pt x="1591740" y="47684"/>
                  <a:pt x="1797419" y="0"/>
                </a:cubicBezTo>
                <a:cubicBezTo>
                  <a:pt x="2003098" y="-47684"/>
                  <a:pt x="2210911" y="54139"/>
                  <a:pt x="2435213" y="0"/>
                </a:cubicBezTo>
                <a:cubicBezTo>
                  <a:pt x="2659515" y="-54139"/>
                  <a:pt x="2798608" y="42243"/>
                  <a:pt x="2899064" y="0"/>
                </a:cubicBezTo>
                <a:cubicBezTo>
                  <a:pt x="2999520" y="-42243"/>
                  <a:pt x="3314287" y="49781"/>
                  <a:pt x="3536857" y="0"/>
                </a:cubicBezTo>
                <a:cubicBezTo>
                  <a:pt x="3759427" y="-49781"/>
                  <a:pt x="3874765" y="56424"/>
                  <a:pt x="4174651" y="0"/>
                </a:cubicBezTo>
                <a:cubicBezTo>
                  <a:pt x="4474537" y="-56424"/>
                  <a:pt x="4433970" y="17863"/>
                  <a:pt x="4580520" y="0"/>
                </a:cubicBezTo>
                <a:cubicBezTo>
                  <a:pt x="4727070" y="-17863"/>
                  <a:pt x="4822137" y="40009"/>
                  <a:pt x="5044370" y="0"/>
                </a:cubicBezTo>
                <a:cubicBezTo>
                  <a:pt x="5266603" y="-40009"/>
                  <a:pt x="5521372" y="86533"/>
                  <a:pt x="5798127" y="0"/>
                </a:cubicBezTo>
                <a:cubicBezTo>
                  <a:pt x="5843687" y="113092"/>
                  <a:pt x="5735348" y="408601"/>
                  <a:pt x="5798127" y="526298"/>
                </a:cubicBezTo>
                <a:cubicBezTo>
                  <a:pt x="5860906" y="643995"/>
                  <a:pt x="5777678" y="844725"/>
                  <a:pt x="5798127" y="1023357"/>
                </a:cubicBezTo>
                <a:cubicBezTo>
                  <a:pt x="5818576" y="1201989"/>
                  <a:pt x="5768557" y="1320981"/>
                  <a:pt x="5798127" y="1578894"/>
                </a:cubicBezTo>
                <a:cubicBezTo>
                  <a:pt x="5827697" y="1836807"/>
                  <a:pt x="5753438" y="1951870"/>
                  <a:pt x="5798127" y="2163669"/>
                </a:cubicBezTo>
                <a:cubicBezTo>
                  <a:pt x="5842816" y="2375468"/>
                  <a:pt x="5717151" y="2631644"/>
                  <a:pt x="5798127" y="2923877"/>
                </a:cubicBezTo>
                <a:cubicBezTo>
                  <a:pt x="5702944" y="2964702"/>
                  <a:pt x="5484112" y="2912550"/>
                  <a:pt x="5334277" y="2923877"/>
                </a:cubicBezTo>
                <a:cubicBezTo>
                  <a:pt x="5184442" y="2935204"/>
                  <a:pt x="5036758" y="2876237"/>
                  <a:pt x="4870427" y="2923877"/>
                </a:cubicBezTo>
                <a:cubicBezTo>
                  <a:pt x="4704096" y="2971517"/>
                  <a:pt x="4524385" y="2913963"/>
                  <a:pt x="4232633" y="2923877"/>
                </a:cubicBezTo>
                <a:cubicBezTo>
                  <a:pt x="3940881" y="2933791"/>
                  <a:pt x="3874041" y="2923401"/>
                  <a:pt x="3710801" y="2923877"/>
                </a:cubicBezTo>
                <a:cubicBezTo>
                  <a:pt x="3547561" y="2924353"/>
                  <a:pt x="3288532" y="2848500"/>
                  <a:pt x="3073007" y="2923877"/>
                </a:cubicBezTo>
                <a:cubicBezTo>
                  <a:pt x="2857482" y="2999254"/>
                  <a:pt x="2729262" y="2861306"/>
                  <a:pt x="2435213" y="2923877"/>
                </a:cubicBezTo>
                <a:cubicBezTo>
                  <a:pt x="2141164" y="2986448"/>
                  <a:pt x="2051671" y="2872661"/>
                  <a:pt x="1913382" y="2923877"/>
                </a:cubicBezTo>
                <a:cubicBezTo>
                  <a:pt x="1775093" y="2975093"/>
                  <a:pt x="1589415" y="2906074"/>
                  <a:pt x="1333569" y="2923877"/>
                </a:cubicBezTo>
                <a:cubicBezTo>
                  <a:pt x="1077723" y="2941680"/>
                  <a:pt x="1056444" y="2875220"/>
                  <a:pt x="869719" y="2923877"/>
                </a:cubicBezTo>
                <a:cubicBezTo>
                  <a:pt x="682994" y="2972534"/>
                  <a:pt x="180842" y="2897363"/>
                  <a:pt x="0" y="2923877"/>
                </a:cubicBezTo>
                <a:cubicBezTo>
                  <a:pt x="-3117" y="2704193"/>
                  <a:pt x="10178" y="2559133"/>
                  <a:pt x="0" y="2368340"/>
                </a:cubicBezTo>
                <a:cubicBezTo>
                  <a:pt x="-10178" y="2177547"/>
                  <a:pt x="19765" y="2046808"/>
                  <a:pt x="0" y="1783565"/>
                </a:cubicBezTo>
                <a:cubicBezTo>
                  <a:pt x="-19765" y="1520323"/>
                  <a:pt x="26691" y="1345787"/>
                  <a:pt x="0" y="1228028"/>
                </a:cubicBezTo>
                <a:cubicBezTo>
                  <a:pt x="-26691" y="1110269"/>
                  <a:pt x="48614" y="786522"/>
                  <a:pt x="0" y="584775"/>
                </a:cubicBezTo>
                <a:cubicBezTo>
                  <a:pt x="-48614" y="383028"/>
                  <a:pt x="70056" y="147663"/>
                  <a:pt x="0" y="0"/>
                </a:cubicBezTo>
                <a:close/>
              </a:path>
            </a:pathLst>
          </a:custGeom>
          <a:solidFill>
            <a:srgbClr val="1A86A9"/>
          </a:solidFill>
          <a:ln w="38100">
            <a:solidFill>
              <a:schemeClr val="tx1"/>
            </a:solidFill>
            <a:extLst>
              <a:ext uri="{C807C97D-BFC1-408E-A445-0C87EB9F89A2}">
                <ask:lineSketchStyleProps xmlns:ask="http://schemas.microsoft.com/office/drawing/2018/sketchyshapes" sd="1623040209">
                  <a:prstGeom prst="rect">
                    <a:avLst/>
                  </a:prstGeom>
                  <ask:type>
                    <ask:lineSketchScribble/>
                  </ask:type>
                </ask:lineSketchStyleProps>
              </a:ext>
            </a:extLst>
          </a:ln>
          <a:effectLst/>
        </p:spPr>
        <p:txBody>
          <a:bodyPr vert="horz" wrap="square" lIns="91440" tIns="45720" rIns="91440" bIns="45720" numCol="1" anchor="ctr" anchorCtr="0" compatLnSpc="1">
            <a:prstTxWarp prst="textNoShape">
              <a:avLst/>
            </a:prstTxWarp>
            <a:spAutoFit/>
          </a:bodyPr>
          <a:lstStyle/>
          <a:p>
            <a:r>
              <a:rPr lang="en-IN" sz="2800" b="1" u="sng" dirty="0">
                <a:latin typeface="Aharoni" panose="02010803020104030203" pitchFamily="2" charset="-79"/>
                <a:cs typeface="Aharoni" panose="02010803020104030203" pitchFamily="2" charset="-79"/>
              </a:rPr>
              <a:t>TEAM MEMBERS:</a:t>
            </a:r>
          </a:p>
          <a:p>
            <a:endParaRPr lang="en-IN" sz="2000" dirty="0">
              <a:latin typeface="Aharoni" panose="02010803020104030203" pitchFamily="2" charset="-79"/>
              <a:cs typeface="Aharoni" panose="02010803020104030203" pitchFamily="2" charset="-79"/>
            </a:endParaRPr>
          </a:p>
          <a:p>
            <a:r>
              <a:rPr lang="en-IN" sz="2000" dirty="0">
                <a:latin typeface="Aharoni" panose="02010803020104030203" pitchFamily="2" charset="-79"/>
                <a:cs typeface="Aharoni" panose="02010803020104030203" pitchFamily="2" charset="-79"/>
              </a:rPr>
              <a:t>L</a:t>
            </a:r>
            <a:r>
              <a:rPr lang="en-IN" sz="2000" b="1" dirty="0">
                <a:latin typeface="Aharoni" panose="02010803020104030203" pitchFamily="2" charset="-79"/>
                <a:cs typeface="Aharoni" panose="02010803020104030203" pitchFamily="2" charset="-79"/>
              </a:rPr>
              <a:t>OK</a:t>
            </a:r>
            <a:r>
              <a:rPr lang="en-IN" sz="2000" dirty="0">
                <a:latin typeface="Aharoni" panose="02010803020104030203" pitchFamily="2" charset="-79"/>
                <a:cs typeface="Aharoni" panose="02010803020104030203" pitchFamily="2" charset="-79"/>
              </a:rPr>
              <a:t>ESH SINGH N </a:t>
            </a:r>
            <a:r>
              <a:rPr lang="en-IN" sz="2800" dirty="0">
                <a:latin typeface="Aharoni" panose="02010803020104030203" pitchFamily="2" charset="-79"/>
                <a:cs typeface="Aharoni" panose="02010803020104030203" pitchFamily="2" charset="-79"/>
              </a:rPr>
              <a:t>(230701166)</a:t>
            </a:r>
          </a:p>
          <a:p>
            <a:endParaRPr lang="en-IN" sz="2800" dirty="0">
              <a:latin typeface="Aharoni" panose="02010803020104030203" pitchFamily="2" charset="-79"/>
              <a:cs typeface="Aharoni" panose="02010803020104030203" pitchFamily="2" charset="-79"/>
            </a:endParaRPr>
          </a:p>
          <a:p>
            <a:r>
              <a:rPr lang="en-IN" sz="2000" dirty="0">
                <a:latin typeface="Aharoni" panose="02010803020104030203" pitchFamily="2" charset="-79"/>
                <a:cs typeface="Aharoni" panose="02010803020104030203" pitchFamily="2" charset="-79"/>
              </a:rPr>
              <a:t>KIRUTHIKA K M </a:t>
            </a:r>
            <a:r>
              <a:rPr lang="en-IN" sz="2800" dirty="0">
                <a:latin typeface="Aharoni" panose="02010803020104030203" pitchFamily="2" charset="-79"/>
                <a:cs typeface="Aharoni" panose="02010803020104030203" pitchFamily="2" charset="-79"/>
              </a:rPr>
              <a:t>(230701153)</a:t>
            </a:r>
          </a:p>
          <a:p>
            <a:endParaRPr lang="en-IN" sz="2000" dirty="0">
              <a:latin typeface="Aharoni" panose="02010803020104030203" pitchFamily="2" charset="-79"/>
              <a:cs typeface="Aharoni" panose="02010803020104030203" pitchFamily="2" charset="-79"/>
            </a:endParaRPr>
          </a:p>
          <a:p>
            <a:r>
              <a:rPr lang="en-IN" sz="2000" dirty="0">
                <a:latin typeface="Aharoni" panose="02010803020104030203" pitchFamily="2" charset="-79"/>
                <a:cs typeface="Aharoni" panose="02010803020104030203" pitchFamily="2" charset="-79"/>
              </a:rPr>
              <a:t>MONISH G </a:t>
            </a:r>
            <a:r>
              <a:rPr lang="en-IN" sz="2800" dirty="0">
                <a:latin typeface="Aharoni" panose="02010803020104030203" pitchFamily="2" charset="-79"/>
                <a:cs typeface="Aharoni" panose="02010803020104030203" pitchFamily="2" charset="-79"/>
              </a:rPr>
              <a:t>(230701196)</a:t>
            </a:r>
          </a:p>
        </p:txBody>
      </p:sp>
    </p:spTree>
    <p:extLst>
      <p:ext uri="{BB962C8B-B14F-4D97-AF65-F5344CB8AC3E}">
        <p14:creationId xmlns:p14="http://schemas.microsoft.com/office/powerpoint/2010/main" val="22084727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25213733-4742-461C-861F-7B2008554C13}"/>
              </a:ext>
            </a:extLst>
          </p:cNvPr>
          <p:cNvSpPr>
            <a:spLocks noChangeArrowheads="1"/>
          </p:cNvSpPr>
          <p:nvPr/>
        </p:nvSpPr>
        <p:spPr bwMode="auto">
          <a:xfrm>
            <a:off x="659756" y="1458410"/>
            <a:ext cx="10998843" cy="4426574"/>
          </a:xfrm>
          <a:custGeom>
            <a:avLst/>
            <a:gdLst>
              <a:gd name="connsiteX0" fmla="*/ 0 w 10998843"/>
              <a:gd name="connsiteY0" fmla="*/ 0 h 4426574"/>
              <a:gd name="connsiteX1" fmla="*/ 248921 w 10998843"/>
              <a:gd name="connsiteY1" fmla="*/ 0 h 4426574"/>
              <a:gd name="connsiteX2" fmla="*/ 1047785 w 10998843"/>
              <a:gd name="connsiteY2" fmla="*/ 0 h 4426574"/>
              <a:gd name="connsiteX3" fmla="*/ 1296706 w 10998843"/>
              <a:gd name="connsiteY3" fmla="*/ 0 h 4426574"/>
              <a:gd name="connsiteX4" fmla="*/ 1545627 w 10998843"/>
              <a:gd name="connsiteY4" fmla="*/ 0 h 4426574"/>
              <a:gd name="connsiteX5" fmla="*/ 1794548 w 10998843"/>
              <a:gd name="connsiteY5" fmla="*/ 0 h 4426574"/>
              <a:gd name="connsiteX6" fmla="*/ 2043469 w 10998843"/>
              <a:gd name="connsiteY6" fmla="*/ 0 h 4426574"/>
              <a:gd name="connsiteX7" fmla="*/ 2622356 w 10998843"/>
              <a:gd name="connsiteY7" fmla="*/ 0 h 4426574"/>
              <a:gd name="connsiteX8" fmla="*/ 2871277 w 10998843"/>
              <a:gd name="connsiteY8" fmla="*/ 0 h 4426574"/>
              <a:gd name="connsiteX9" fmla="*/ 3450163 w 10998843"/>
              <a:gd name="connsiteY9" fmla="*/ 0 h 4426574"/>
              <a:gd name="connsiteX10" fmla="*/ 3809073 w 10998843"/>
              <a:gd name="connsiteY10" fmla="*/ 0 h 4426574"/>
              <a:gd name="connsiteX11" fmla="*/ 4387959 w 10998843"/>
              <a:gd name="connsiteY11" fmla="*/ 0 h 4426574"/>
              <a:gd name="connsiteX12" fmla="*/ 5186823 w 10998843"/>
              <a:gd name="connsiteY12" fmla="*/ 0 h 4426574"/>
              <a:gd name="connsiteX13" fmla="*/ 5435744 w 10998843"/>
              <a:gd name="connsiteY13" fmla="*/ 0 h 4426574"/>
              <a:gd name="connsiteX14" fmla="*/ 6014630 w 10998843"/>
              <a:gd name="connsiteY14" fmla="*/ 0 h 4426574"/>
              <a:gd name="connsiteX15" fmla="*/ 6483529 w 10998843"/>
              <a:gd name="connsiteY15" fmla="*/ 0 h 4426574"/>
              <a:gd name="connsiteX16" fmla="*/ 6842438 w 10998843"/>
              <a:gd name="connsiteY16" fmla="*/ 0 h 4426574"/>
              <a:gd name="connsiteX17" fmla="*/ 7421325 w 10998843"/>
              <a:gd name="connsiteY17" fmla="*/ 0 h 4426574"/>
              <a:gd name="connsiteX18" fmla="*/ 7890223 w 10998843"/>
              <a:gd name="connsiteY18" fmla="*/ 0 h 4426574"/>
              <a:gd name="connsiteX19" fmla="*/ 8469109 w 10998843"/>
              <a:gd name="connsiteY19" fmla="*/ 0 h 4426574"/>
              <a:gd name="connsiteX20" fmla="*/ 8828019 w 10998843"/>
              <a:gd name="connsiteY20" fmla="*/ 0 h 4426574"/>
              <a:gd name="connsiteX21" fmla="*/ 9186928 w 10998843"/>
              <a:gd name="connsiteY21" fmla="*/ 0 h 4426574"/>
              <a:gd name="connsiteX22" fmla="*/ 9875803 w 10998843"/>
              <a:gd name="connsiteY22" fmla="*/ 0 h 4426574"/>
              <a:gd name="connsiteX23" fmla="*/ 10124724 w 10998843"/>
              <a:gd name="connsiteY23" fmla="*/ 0 h 4426574"/>
              <a:gd name="connsiteX24" fmla="*/ 10483634 w 10998843"/>
              <a:gd name="connsiteY24" fmla="*/ 0 h 4426574"/>
              <a:gd name="connsiteX25" fmla="*/ 10998843 w 10998843"/>
              <a:gd name="connsiteY25" fmla="*/ 0 h 4426574"/>
              <a:gd name="connsiteX26" fmla="*/ 10998843 w 10998843"/>
              <a:gd name="connsiteY26" fmla="*/ 464790 h 4426574"/>
              <a:gd name="connsiteX27" fmla="*/ 10998843 w 10998843"/>
              <a:gd name="connsiteY27" fmla="*/ 885315 h 4426574"/>
              <a:gd name="connsiteX28" fmla="*/ 10998843 w 10998843"/>
              <a:gd name="connsiteY28" fmla="*/ 1305839 h 4426574"/>
              <a:gd name="connsiteX29" fmla="*/ 10998843 w 10998843"/>
              <a:gd name="connsiteY29" fmla="*/ 1726364 h 4426574"/>
              <a:gd name="connsiteX30" fmla="*/ 10998843 w 10998843"/>
              <a:gd name="connsiteY30" fmla="*/ 2323951 h 4426574"/>
              <a:gd name="connsiteX31" fmla="*/ 10998843 w 10998843"/>
              <a:gd name="connsiteY31" fmla="*/ 2833007 h 4426574"/>
              <a:gd name="connsiteX32" fmla="*/ 10998843 w 10998843"/>
              <a:gd name="connsiteY32" fmla="*/ 3342063 h 4426574"/>
              <a:gd name="connsiteX33" fmla="*/ 10998843 w 10998843"/>
              <a:gd name="connsiteY33" fmla="*/ 3851119 h 4426574"/>
              <a:gd name="connsiteX34" fmla="*/ 10998843 w 10998843"/>
              <a:gd name="connsiteY34" fmla="*/ 4426574 h 4426574"/>
              <a:gd name="connsiteX35" fmla="*/ 10639933 w 10998843"/>
              <a:gd name="connsiteY35" fmla="*/ 4426574 h 4426574"/>
              <a:gd name="connsiteX36" fmla="*/ 10171035 w 10998843"/>
              <a:gd name="connsiteY36" fmla="*/ 4426574 h 4426574"/>
              <a:gd name="connsiteX37" fmla="*/ 9812126 w 10998843"/>
              <a:gd name="connsiteY37" fmla="*/ 4426574 h 4426574"/>
              <a:gd name="connsiteX38" fmla="*/ 9343228 w 10998843"/>
              <a:gd name="connsiteY38" fmla="*/ 4426574 h 4426574"/>
              <a:gd name="connsiteX39" fmla="*/ 8654353 w 10998843"/>
              <a:gd name="connsiteY39" fmla="*/ 4426574 h 4426574"/>
              <a:gd name="connsiteX40" fmla="*/ 8295443 w 10998843"/>
              <a:gd name="connsiteY40" fmla="*/ 4426574 h 4426574"/>
              <a:gd name="connsiteX41" fmla="*/ 7936534 w 10998843"/>
              <a:gd name="connsiteY41" fmla="*/ 4426574 h 4426574"/>
              <a:gd name="connsiteX42" fmla="*/ 7687612 w 10998843"/>
              <a:gd name="connsiteY42" fmla="*/ 4426574 h 4426574"/>
              <a:gd name="connsiteX43" fmla="*/ 7218714 w 10998843"/>
              <a:gd name="connsiteY43" fmla="*/ 4426574 h 4426574"/>
              <a:gd name="connsiteX44" fmla="*/ 6639828 w 10998843"/>
              <a:gd name="connsiteY44" fmla="*/ 4426574 h 4426574"/>
              <a:gd name="connsiteX45" fmla="*/ 5950953 w 10998843"/>
              <a:gd name="connsiteY45" fmla="*/ 4426574 h 4426574"/>
              <a:gd name="connsiteX46" fmla="*/ 5702032 w 10998843"/>
              <a:gd name="connsiteY46" fmla="*/ 4426574 h 4426574"/>
              <a:gd name="connsiteX47" fmla="*/ 5123145 w 10998843"/>
              <a:gd name="connsiteY47" fmla="*/ 4426574 h 4426574"/>
              <a:gd name="connsiteX48" fmla="*/ 4324282 w 10998843"/>
              <a:gd name="connsiteY48" fmla="*/ 4426574 h 4426574"/>
              <a:gd name="connsiteX49" fmla="*/ 3525419 w 10998843"/>
              <a:gd name="connsiteY49" fmla="*/ 4426574 h 4426574"/>
              <a:gd name="connsiteX50" fmla="*/ 2946532 w 10998843"/>
              <a:gd name="connsiteY50" fmla="*/ 4426574 h 4426574"/>
              <a:gd name="connsiteX51" fmla="*/ 2257657 w 10998843"/>
              <a:gd name="connsiteY51" fmla="*/ 4426574 h 4426574"/>
              <a:gd name="connsiteX52" fmla="*/ 1898748 w 10998843"/>
              <a:gd name="connsiteY52" fmla="*/ 4426574 h 4426574"/>
              <a:gd name="connsiteX53" fmla="*/ 1319861 w 10998843"/>
              <a:gd name="connsiteY53" fmla="*/ 4426574 h 4426574"/>
              <a:gd name="connsiteX54" fmla="*/ 1070940 w 10998843"/>
              <a:gd name="connsiteY54" fmla="*/ 4426574 h 4426574"/>
              <a:gd name="connsiteX55" fmla="*/ 0 w 10998843"/>
              <a:gd name="connsiteY55" fmla="*/ 4426574 h 4426574"/>
              <a:gd name="connsiteX56" fmla="*/ 0 w 10998843"/>
              <a:gd name="connsiteY56" fmla="*/ 3784721 h 4426574"/>
              <a:gd name="connsiteX57" fmla="*/ 0 w 10998843"/>
              <a:gd name="connsiteY57" fmla="*/ 3275665 h 4426574"/>
              <a:gd name="connsiteX58" fmla="*/ 0 w 10998843"/>
              <a:gd name="connsiteY58" fmla="*/ 2678077 h 4426574"/>
              <a:gd name="connsiteX59" fmla="*/ 0 w 10998843"/>
              <a:gd name="connsiteY59" fmla="*/ 2124756 h 4426574"/>
              <a:gd name="connsiteX60" fmla="*/ 0 w 10998843"/>
              <a:gd name="connsiteY60" fmla="*/ 1704231 h 4426574"/>
              <a:gd name="connsiteX61" fmla="*/ 0 w 10998843"/>
              <a:gd name="connsiteY61" fmla="*/ 1106644 h 4426574"/>
              <a:gd name="connsiteX62" fmla="*/ 0 w 10998843"/>
              <a:gd name="connsiteY62" fmla="*/ 641853 h 4426574"/>
              <a:gd name="connsiteX63" fmla="*/ 0 w 10998843"/>
              <a:gd name="connsiteY63" fmla="*/ 0 h 4426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10998843" h="4426574" fill="none" extrusionOk="0">
                <a:moveTo>
                  <a:pt x="0" y="0"/>
                </a:moveTo>
                <a:cubicBezTo>
                  <a:pt x="80254" y="-14892"/>
                  <a:pt x="180085" y="19165"/>
                  <a:pt x="248921" y="0"/>
                </a:cubicBezTo>
                <a:cubicBezTo>
                  <a:pt x="317757" y="-19165"/>
                  <a:pt x="864374" y="80909"/>
                  <a:pt x="1047785" y="0"/>
                </a:cubicBezTo>
                <a:cubicBezTo>
                  <a:pt x="1231196" y="-80909"/>
                  <a:pt x="1243464" y="20999"/>
                  <a:pt x="1296706" y="0"/>
                </a:cubicBezTo>
                <a:cubicBezTo>
                  <a:pt x="1349948" y="-20999"/>
                  <a:pt x="1425137" y="23987"/>
                  <a:pt x="1545627" y="0"/>
                </a:cubicBezTo>
                <a:cubicBezTo>
                  <a:pt x="1666117" y="-23987"/>
                  <a:pt x="1674287" y="14058"/>
                  <a:pt x="1794548" y="0"/>
                </a:cubicBezTo>
                <a:cubicBezTo>
                  <a:pt x="1914809" y="-14058"/>
                  <a:pt x="1925497" y="26570"/>
                  <a:pt x="2043469" y="0"/>
                </a:cubicBezTo>
                <a:cubicBezTo>
                  <a:pt x="2161441" y="-26570"/>
                  <a:pt x="2464233" y="46435"/>
                  <a:pt x="2622356" y="0"/>
                </a:cubicBezTo>
                <a:cubicBezTo>
                  <a:pt x="2780479" y="-46435"/>
                  <a:pt x="2767084" y="16500"/>
                  <a:pt x="2871277" y="0"/>
                </a:cubicBezTo>
                <a:cubicBezTo>
                  <a:pt x="2975470" y="-16500"/>
                  <a:pt x="3333265" y="18832"/>
                  <a:pt x="3450163" y="0"/>
                </a:cubicBezTo>
                <a:cubicBezTo>
                  <a:pt x="3567061" y="-18832"/>
                  <a:pt x="3685416" y="26351"/>
                  <a:pt x="3809073" y="0"/>
                </a:cubicBezTo>
                <a:cubicBezTo>
                  <a:pt x="3932730" y="-26351"/>
                  <a:pt x="4225105" y="39174"/>
                  <a:pt x="4387959" y="0"/>
                </a:cubicBezTo>
                <a:cubicBezTo>
                  <a:pt x="4550813" y="-39174"/>
                  <a:pt x="5005972" y="28363"/>
                  <a:pt x="5186823" y="0"/>
                </a:cubicBezTo>
                <a:cubicBezTo>
                  <a:pt x="5367674" y="-28363"/>
                  <a:pt x="5363340" y="25564"/>
                  <a:pt x="5435744" y="0"/>
                </a:cubicBezTo>
                <a:cubicBezTo>
                  <a:pt x="5508148" y="-25564"/>
                  <a:pt x="5834566" y="56140"/>
                  <a:pt x="6014630" y="0"/>
                </a:cubicBezTo>
                <a:cubicBezTo>
                  <a:pt x="6194694" y="-56140"/>
                  <a:pt x="6315634" y="34110"/>
                  <a:pt x="6483529" y="0"/>
                </a:cubicBezTo>
                <a:cubicBezTo>
                  <a:pt x="6651424" y="-34110"/>
                  <a:pt x="6760266" y="5202"/>
                  <a:pt x="6842438" y="0"/>
                </a:cubicBezTo>
                <a:cubicBezTo>
                  <a:pt x="6924610" y="-5202"/>
                  <a:pt x="7137736" y="26058"/>
                  <a:pt x="7421325" y="0"/>
                </a:cubicBezTo>
                <a:cubicBezTo>
                  <a:pt x="7704914" y="-26058"/>
                  <a:pt x="7750176" y="32870"/>
                  <a:pt x="7890223" y="0"/>
                </a:cubicBezTo>
                <a:cubicBezTo>
                  <a:pt x="8030270" y="-32870"/>
                  <a:pt x="8239892" y="2837"/>
                  <a:pt x="8469109" y="0"/>
                </a:cubicBezTo>
                <a:cubicBezTo>
                  <a:pt x="8698326" y="-2837"/>
                  <a:pt x="8683475" y="7706"/>
                  <a:pt x="8828019" y="0"/>
                </a:cubicBezTo>
                <a:cubicBezTo>
                  <a:pt x="8972563" y="-7706"/>
                  <a:pt x="9048750" y="7984"/>
                  <a:pt x="9186928" y="0"/>
                </a:cubicBezTo>
                <a:cubicBezTo>
                  <a:pt x="9325106" y="-7984"/>
                  <a:pt x="9573595" y="31419"/>
                  <a:pt x="9875803" y="0"/>
                </a:cubicBezTo>
                <a:cubicBezTo>
                  <a:pt x="10178011" y="-31419"/>
                  <a:pt x="10050400" y="15371"/>
                  <a:pt x="10124724" y="0"/>
                </a:cubicBezTo>
                <a:cubicBezTo>
                  <a:pt x="10199048" y="-15371"/>
                  <a:pt x="10394813" y="29344"/>
                  <a:pt x="10483634" y="0"/>
                </a:cubicBezTo>
                <a:cubicBezTo>
                  <a:pt x="10572455" y="-29344"/>
                  <a:pt x="10843721" y="41306"/>
                  <a:pt x="10998843" y="0"/>
                </a:cubicBezTo>
                <a:cubicBezTo>
                  <a:pt x="11031549" y="112520"/>
                  <a:pt x="10967581" y="342175"/>
                  <a:pt x="10998843" y="464790"/>
                </a:cubicBezTo>
                <a:cubicBezTo>
                  <a:pt x="11030105" y="587405"/>
                  <a:pt x="10973840" y="762536"/>
                  <a:pt x="10998843" y="885315"/>
                </a:cubicBezTo>
                <a:cubicBezTo>
                  <a:pt x="11023846" y="1008095"/>
                  <a:pt x="10948899" y="1106250"/>
                  <a:pt x="10998843" y="1305839"/>
                </a:cubicBezTo>
                <a:cubicBezTo>
                  <a:pt x="11048787" y="1505428"/>
                  <a:pt x="10973895" y="1567640"/>
                  <a:pt x="10998843" y="1726364"/>
                </a:cubicBezTo>
                <a:cubicBezTo>
                  <a:pt x="11023791" y="1885089"/>
                  <a:pt x="10996120" y="2126704"/>
                  <a:pt x="10998843" y="2323951"/>
                </a:cubicBezTo>
                <a:cubicBezTo>
                  <a:pt x="11001566" y="2521198"/>
                  <a:pt x="10990488" y="2671879"/>
                  <a:pt x="10998843" y="2833007"/>
                </a:cubicBezTo>
                <a:cubicBezTo>
                  <a:pt x="11007198" y="2994135"/>
                  <a:pt x="10950358" y="3120391"/>
                  <a:pt x="10998843" y="3342063"/>
                </a:cubicBezTo>
                <a:cubicBezTo>
                  <a:pt x="11047328" y="3563735"/>
                  <a:pt x="10973825" y="3690210"/>
                  <a:pt x="10998843" y="3851119"/>
                </a:cubicBezTo>
                <a:cubicBezTo>
                  <a:pt x="11023861" y="4012028"/>
                  <a:pt x="10981256" y="4216330"/>
                  <a:pt x="10998843" y="4426574"/>
                </a:cubicBezTo>
                <a:cubicBezTo>
                  <a:pt x="10860872" y="4432119"/>
                  <a:pt x="10723335" y="4388225"/>
                  <a:pt x="10639933" y="4426574"/>
                </a:cubicBezTo>
                <a:cubicBezTo>
                  <a:pt x="10556531" y="4464923"/>
                  <a:pt x="10375898" y="4404257"/>
                  <a:pt x="10171035" y="4426574"/>
                </a:cubicBezTo>
                <a:cubicBezTo>
                  <a:pt x="9966172" y="4448891"/>
                  <a:pt x="9909989" y="4400863"/>
                  <a:pt x="9812126" y="4426574"/>
                </a:cubicBezTo>
                <a:cubicBezTo>
                  <a:pt x="9714263" y="4452285"/>
                  <a:pt x="9515551" y="4394105"/>
                  <a:pt x="9343228" y="4426574"/>
                </a:cubicBezTo>
                <a:cubicBezTo>
                  <a:pt x="9170905" y="4459043"/>
                  <a:pt x="8972098" y="4391636"/>
                  <a:pt x="8654353" y="4426574"/>
                </a:cubicBezTo>
                <a:cubicBezTo>
                  <a:pt x="8336609" y="4461512"/>
                  <a:pt x="8405309" y="4416837"/>
                  <a:pt x="8295443" y="4426574"/>
                </a:cubicBezTo>
                <a:cubicBezTo>
                  <a:pt x="8185577" y="4436311"/>
                  <a:pt x="8086846" y="4396715"/>
                  <a:pt x="7936534" y="4426574"/>
                </a:cubicBezTo>
                <a:cubicBezTo>
                  <a:pt x="7786222" y="4456433"/>
                  <a:pt x="7806537" y="4403580"/>
                  <a:pt x="7687612" y="4426574"/>
                </a:cubicBezTo>
                <a:cubicBezTo>
                  <a:pt x="7568687" y="4449568"/>
                  <a:pt x="7401983" y="4379383"/>
                  <a:pt x="7218714" y="4426574"/>
                </a:cubicBezTo>
                <a:cubicBezTo>
                  <a:pt x="7035445" y="4473765"/>
                  <a:pt x="6755618" y="4359528"/>
                  <a:pt x="6639828" y="4426574"/>
                </a:cubicBezTo>
                <a:cubicBezTo>
                  <a:pt x="6524038" y="4493620"/>
                  <a:pt x="6210502" y="4390645"/>
                  <a:pt x="5950953" y="4426574"/>
                </a:cubicBezTo>
                <a:cubicBezTo>
                  <a:pt x="5691405" y="4462503"/>
                  <a:pt x="5754131" y="4403273"/>
                  <a:pt x="5702032" y="4426574"/>
                </a:cubicBezTo>
                <a:cubicBezTo>
                  <a:pt x="5649933" y="4449875"/>
                  <a:pt x="5279019" y="4360926"/>
                  <a:pt x="5123145" y="4426574"/>
                </a:cubicBezTo>
                <a:cubicBezTo>
                  <a:pt x="4967271" y="4492222"/>
                  <a:pt x="4520685" y="4341057"/>
                  <a:pt x="4324282" y="4426574"/>
                </a:cubicBezTo>
                <a:cubicBezTo>
                  <a:pt x="4127879" y="4512091"/>
                  <a:pt x="3703187" y="4351979"/>
                  <a:pt x="3525419" y="4426574"/>
                </a:cubicBezTo>
                <a:cubicBezTo>
                  <a:pt x="3347651" y="4501169"/>
                  <a:pt x="3122102" y="4388389"/>
                  <a:pt x="2946532" y="4426574"/>
                </a:cubicBezTo>
                <a:cubicBezTo>
                  <a:pt x="2770962" y="4464759"/>
                  <a:pt x="2560215" y="4366051"/>
                  <a:pt x="2257657" y="4426574"/>
                </a:cubicBezTo>
                <a:cubicBezTo>
                  <a:pt x="1955100" y="4487097"/>
                  <a:pt x="2032827" y="4412033"/>
                  <a:pt x="1898748" y="4426574"/>
                </a:cubicBezTo>
                <a:cubicBezTo>
                  <a:pt x="1764669" y="4441115"/>
                  <a:pt x="1566334" y="4405795"/>
                  <a:pt x="1319861" y="4426574"/>
                </a:cubicBezTo>
                <a:cubicBezTo>
                  <a:pt x="1073388" y="4447353"/>
                  <a:pt x="1146693" y="4412223"/>
                  <a:pt x="1070940" y="4426574"/>
                </a:cubicBezTo>
                <a:cubicBezTo>
                  <a:pt x="995187" y="4440925"/>
                  <a:pt x="391297" y="4424836"/>
                  <a:pt x="0" y="4426574"/>
                </a:cubicBezTo>
                <a:cubicBezTo>
                  <a:pt x="-26376" y="4138455"/>
                  <a:pt x="3216" y="3978512"/>
                  <a:pt x="0" y="3784721"/>
                </a:cubicBezTo>
                <a:cubicBezTo>
                  <a:pt x="-3216" y="3590930"/>
                  <a:pt x="46183" y="3489882"/>
                  <a:pt x="0" y="3275665"/>
                </a:cubicBezTo>
                <a:cubicBezTo>
                  <a:pt x="-46183" y="3061448"/>
                  <a:pt x="1975" y="2804380"/>
                  <a:pt x="0" y="2678077"/>
                </a:cubicBezTo>
                <a:cubicBezTo>
                  <a:pt x="-1975" y="2551774"/>
                  <a:pt x="46233" y="2374130"/>
                  <a:pt x="0" y="2124756"/>
                </a:cubicBezTo>
                <a:cubicBezTo>
                  <a:pt x="-46233" y="1875382"/>
                  <a:pt x="31413" y="1795053"/>
                  <a:pt x="0" y="1704231"/>
                </a:cubicBezTo>
                <a:cubicBezTo>
                  <a:pt x="-31413" y="1613410"/>
                  <a:pt x="23154" y="1236900"/>
                  <a:pt x="0" y="1106644"/>
                </a:cubicBezTo>
                <a:cubicBezTo>
                  <a:pt x="-23154" y="976388"/>
                  <a:pt x="43329" y="870356"/>
                  <a:pt x="0" y="641853"/>
                </a:cubicBezTo>
                <a:cubicBezTo>
                  <a:pt x="-43329" y="413350"/>
                  <a:pt x="25543" y="191113"/>
                  <a:pt x="0" y="0"/>
                </a:cubicBezTo>
                <a:close/>
              </a:path>
              <a:path w="10998843" h="4426574" stroke="0" extrusionOk="0">
                <a:moveTo>
                  <a:pt x="0" y="0"/>
                </a:moveTo>
                <a:cubicBezTo>
                  <a:pt x="108995" y="-31746"/>
                  <a:pt x="250204" y="15063"/>
                  <a:pt x="358910" y="0"/>
                </a:cubicBezTo>
                <a:cubicBezTo>
                  <a:pt x="467616" y="-15063"/>
                  <a:pt x="496417" y="13684"/>
                  <a:pt x="607831" y="0"/>
                </a:cubicBezTo>
                <a:cubicBezTo>
                  <a:pt x="719245" y="-13684"/>
                  <a:pt x="820626" y="8585"/>
                  <a:pt x="966740" y="0"/>
                </a:cubicBezTo>
                <a:cubicBezTo>
                  <a:pt x="1112854" y="-8585"/>
                  <a:pt x="1159855" y="22924"/>
                  <a:pt x="1325650" y="0"/>
                </a:cubicBezTo>
                <a:cubicBezTo>
                  <a:pt x="1491445" y="-22924"/>
                  <a:pt x="1851203" y="59132"/>
                  <a:pt x="2014525" y="0"/>
                </a:cubicBezTo>
                <a:cubicBezTo>
                  <a:pt x="2177848" y="-59132"/>
                  <a:pt x="2242756" y="15881"/>
                  <a:pt x="2373435" y="0"/>
                </a:cubicBezTo>
                <a:cubicBezTo>
                  <a:pt x="2504114" y="-15881"/>
                  <a:pt x="2752587" y="20197"/>
                  <a:pt x="3062309" y="0"/>
                </a:cubicBezTo>
                <a:cubicBezTo>
                  <a:pt x="3372031" y="-20197"/>
                  <a:pt x="3585743" y="26208"/>
                  <a:pt x="3751184" y="0"/>
                </a:cubicBezTo>
                <a:cubicBezTo>
                  <a:pt x="3916625" y="-26208"/>
                  <a:pt x="3908830" y="10067"/>
                  <a:pt x="4000106" y="0"/>
                </a:cubicBezTo>
                <a:cubicBezTo>
                  <a:pt x="4091382" y="-10067"/>
                  <a:pt x="4281067" y="33699"/>
                  <a:pt x="4359015" y="0"/>
                </a:cubicBezTo>
                <a:cubicBezTo>
                  <a:pt x="4436963" y="-33699"/>
                  <a:pt x="4721729" y="1768"/>
                  <a:pt x="4827913" y="0"/>
                </a:cubicBezTo>
                <a:cubicBezTo>
                  <a:pt x="4934097" y="-1768"/>
                  <a:pt x="5037236" y="21676"/>
                  <a:pt x="5186823" y="0"/>
                </a:cubicBezTo>
                <a:cubicBezTo>
                  <a:pt x="5336410" y="-21676"/>
                  <a:pt x="5371207" y="28079"/>
                  <a:pt x="5435744" y="0"/>
                </a:cubicBezTo>
                <a:cubicBezTo>
                  <a:pt x="5500281" y="-28079"/>
                  <a:pt x="5763730" y="7252"/>
                  <a:pt x="5904642" y="0"/>
                </a:cubicBezTo>
                <a:cubicBezTo>
                  <a:pt x="6045554" y="-7252"/>
                  <a:pt x="6186793" y="32983"/>
                  <a:pt x="6263552" y="0"/>
                </a:cubicBezTo>
                <a:cubicBezTo>
                  <a:pt x="6340311" y="-32983"/>
                  <a:pt x="6496177" y="33994"/>
                  <a:pt x="6622461" y="0"/>
                </a:cubicBezTo>
                <a:cubicBezTo>
                  <a:pt x="6748745" y="-33994"/>
                  <a:pt x="7254580" y="86744"/>
                  <a:pt x="7421325" y="0"/>
                </a:cubicBezTo>
                <a:cubicBezTo>
                  <a:pt x="7588070" y="-86744"/>
                  <a:pt x="7820717" y="31987"/>
                  <a:pt x="8000211" y="0"/>
                </a:cubicBezTo>
                <a:cubicBezTo>
                  <a:pt x="8179705" y="-31987"/>
                  <a:pt x="8504989" y="83401"/>
                  <a:pt x="8799074" y="0"/>
                </a:cubicBezTo>
                <a:cubicBezTo>
                  <a:pt x="9093159" y="-83401"/>
                  <a:pt x="8979675" y="12882"/>
                  <a:pt x="9047996" y="0"/>
                </a:cubicBezTo>
                <a:cubicBezTo>
                  <a:pt x="9116317" y="-12882"/>
                  <a:pt x="9576700" y="56959"/>
                  <a:pt x="9736870" y="0"/>
                </a:cubicBezTo>
                <a:cubicBezTo>
                  <a:pt x="9897040" y="-56959"/>
                  <a:pt x="10437943" y="130832"/>
                  <a:pt x="10998843" y="0"/>
                </a:cubicBezTo>
                <a:cubicBezTo>
                  <a:pt x="11020111" y="177094"/>
                  <a:pt x="10974324" y="408023"/>
                  <a:pt x="10998843" y="553322"/>
                </a:cubicBezTo>
                <a:cubicBezTo>
                  <a:pt x="11023362" y="698621"/>
                  <a:pt x="10982193" y="918071"/>
                  <a:pt x="10998843" y="1150909"/>
                </a:cubicBezTo>
                <a:cubicBezTo>
                  <a:pt x="11015493" y="1383747"/>
                  <a:pt x="10958793" y="1483201"/>
                  <a:pt x="10998843" y="1659965"/>
                </a:cubicBezTo>
                <a:cubicBezTo>
                  <a:pt x="11038893" y="1836729"/>
                  <a:pt x="10956856" y="2009676"/>
                  <a:pt x="10998843" y="2169021"/>
                </a:cubicBezTo>
                <a:cubicBezTo>
                  <a:pt x="11040830" y="2328366"/>
                  <a:pt x="10963413" y="2519458"/>
                  <a:pt x="10998843" y="2633812"/>
                </a:cubicBezTo>
                <a:cubicBezTo>
                  <a:pt x="11034273" y="2748166"/>
                  <a:pt x="10942810" y="3034663"/>
                  <a:pt x="10998843" y="3187133"/>
                </a:cubicBezTo>
                <a:cubicBezTo>
                  <a:pt x="11054876" y="3339603"/>
                  <a:pt x="10980745" y="3531712"/>
                  <a:pt x="10998843" y="3696189"/>
                </a:cubicBezTo>
                <a:cubicBezTo>
                  <a:pt x="11016941" y="3860666"/>
                  <a:pt x="10950425" y="4151523"/>
                  <a:pt x="10998843" y="4426574"/>
                </a:cubicBezTo>
                <a:cubicBezTo>
                  <a:pt x="10842930" y="4477192"/>
                  <a:pt x="10515854" y="4398424"/>
                  <a:pt x="10309968" y="4426574"/>
                </a:cubicBezTo>
                <a:cubicBezTo>
                  <a:pt x="10104083" y="4454724"/>
                  <a:pt x="9857514" y="4394085"/>
                  <a:pt x="9731082" y="4426574"/>
                </a:cubicBezTo>
                <a:cubicBezTo>
                  <a:pt x="9604650" y="4459063"/>
                  <a:pt x="9602118" y="4426076"/>
                  <a:pt x="9482160" y="4426574"/>
                </a:cubicBezTo>
                <a:cubicBezTo>
                  <a:pt x="9362202" y="4427072"/>
                  <a:pt x="9232434" y="4396918"/>
                  <a:pt x="9123251" y="4426574"/>
                </a:cubicBezTo>
                <a:cubicBezTo>
                  <a:pt x="9014068" y="4456230"/>
                  <a:pt x="8775267" y="4373768"/>
                  <a:pt x="8544364" y="4426574"/>
                </a:cubicBezTo>
                <a:cubicBezTo>
                  <a:pt x="8313461" y="4479380"/>
                  <a:pt x="7936649" y="4359366"/>
                  <a:pt x="7745501" y="4426574"/>
                </a:cubicBezTo>
                <a:cubicBezTo>
                  <a:pt x="7554353" y="4493782"/>
                  <a:pt x="7317794" y="4415572"/>
                  <a:pt x="6946638" y="4426574"/>
                </a:cubicBezTo>
                <a:cubicBezTo>
                  <a:pt x="6575482" y="4437576"/>
                  <a:pt x="6581429" y="4418350"/>
                  <a:pt x="6367751" y="4426574"/>
                </a:cubicBezTo>
                <a:cubicBezTo>
                  <a:pt x="6154073" y="4434798"/>
                  <a:pt x="6032450" y="4357161"/>
                  <a:pt x="5788865" y="4426574"/>
                </a:cubicBezTo>
                <a:cubicBezTo>
                  <a:pt x="5545280" y="4495987"/>
                  <a:pt x="5178689" y="4405222"/>
                  <a:pt x="4990001" y="4426574"/>
                </a:cubicBezTo>
                <a:cubicBezTo>
                  <a:pt x="4801313" y="4447926"/>
                  <a:pt x="4745609" y="4397710"/>
                  <a:pt x="4521103" y="4426574"/>
                </a:cubicBezTo>
                <a:cubicBezTo>
                  <a:pt x="4296597" y="4455438"/>
                  <a:pt x="4293630" y="4395808"/>
                  <a:pt x="4162194" y="4426574"/>
                </a:cubicBezTo>
                <a:cubicBezTo>
                  <a:pt x="4030758" y="4457340"/>
                  <a:pt x="3833592" y="4404377"/>
                  <a:pt x="3693296" y="4426574"/>
                </a:cubicBezTo>
                <a:cubicBezTo>
                  <a:pt x="3553000" y="4448771"/>
                  <a:pt x="3297167" y="4387407"/>
                  <a:pt x="3004421" y="4426574"/>
                </a:cubicBezTo>
                <a:cubicBezTo>
                  <a:pt x="2711676" y="4465741"/>
                  <a:pt x="2646136" y="4383120"/>
                  <a:pt x="2535523" y="4426574"/>
                </a:cubicBezTo>
                <a:cubicBezTo>
                  <a:pt x="2424910" y="4470028"/>
                  <a:pt x="2045800" y="4410718"/>
                  <a:pt x="1846648" y="4426574"/>
                </a:cubicBezTo>
                <a:cubicBezTo>
                  <a:pt x="1647497" y="4442430"/>
                  <a:pt x="1582118" y="4382459"/>
                  <a:pt x="1377750" y="4426574"/>
                </a:cubicBezTo>
                <a:cubicBezTo>
                  <a:pt x="1173382" y="4470689"/>
                  <a:pt x="1251302" y="4414321"/>
                  <a:pt x="1128829" y="4426574"/>
                </a:cubicBezTo>
                <a:cubicBezTo>
                  <a:pt x="1006356" y="4438827"/>
                  <a:pt x="961575" y="4415261"/>
                  <a:pt x="879907" y="4426574"/>
                </a:cubicBezTo>
                <a:cubicBezTo>
                  <a:pt x="798239" y="4437887"/>
                  <a:pt x="707252" y="4424019"/>
                  <a:pt x="630986" y="4426574"/>
                </a:cubicBezTo>
                <a:cubicBezTo>
                  <a:pt x="554720" y="4429129"/>
                  <a:pt x="156747" y="4355639"/>
                  <a:pt x="0" y="4426574"/>
                </a:cubicBezTo>
                <a:cubicBezTo>
                  <a:pt x="-15558" y="4262318"/>
                  <a:pt x="44627" y="4008130"/>
                  <a:pt x="0" y="3828987"/>
                </a:cubicBezTo>
                <a:cubicBezTo>
                  <a:pt x="-44627" y="3649844"/>
                  <a:pt x="28403" y="3448369"/>
                  <a:pt x="0" y="3275665"/>
                </a:cubicBezTo>
                <a:cubicBezTo>
                  <a:pt x="-28403" y="3102961"/>
                  <a:pt x="46517" y="2974985"/>
                  <a:pt x="0" y="2766609"/>
                </a:cubicBezTo>
                <a:cubicBezTo>
                  <a:pt x="-46517" y="2558233"/>
                  <a:pt x="31754" y="2399046"/>
                  <a:pt x="0" y="2257553"/>
                </a:cubicBezTo>
                <a:cubicBezTo>
                  <a:pt x="-31754" y="2116060"/>
                  <a:pt x="33042" y="1962155"/>
                  <a:pt x="0" y="1792762"/>
                </a:cubicBezTo>
                <a:cubicBezTo>
                  <a:pt x="-33042" y="1623369"/>
                  <a:pt x="41686" y="1357497"/>
                  <a:pt x="0" y="1150909"/>
                </a:cubicBezTo>
                <a:cubicBezTo>
                  <a:pt x="-41686" y="944321"/>
                  <a:pt x="29507" y="717985"/>
                  <a:pt x="0" y="597587"/>
                </a:cubicBezTo>
                <a:cubicBezTo>
                  <a:pt x="-29507" y="477189"/>
                  <a:pt x="9433" y="168457"/>
                  <a:pt x="0" y="0"/>
                </a:cubicBezTo>
                <a:close/>
              </a:path>
            </a:pathLst>
          </a:custGeom>
          <a:solidFill>
            <a:srgbClr val="1A86A9"/>
          </a:solidFill>
          <a:ln w="38100">
            <a:solidFill>
              <a:schemeClr val="tx1"/>
            </a:solidFill>
            <a:extLst>
              <a:ext uri="{C807C97D-BFC1-408E-A445-0C87EB9F89A2}">
                <ask:lineSketchStyleProps xmlns:ask="http://schemas.microsoft.com/office/drawing/2018/sketchyshapes" sd="1623040209">
                  <a:prstGeom prst="rect">
                    <a:avLst/>
                  </a:prstGeom>
                  <ask:type>
                    <ask:lineSketchScribble/>
                  </ask:type>
                </ask:lineSketchStyleProps>
              </a:ext>
            </a:extLst>
          </a:ln>
          <a:effectLst/>
        </p:spPr>
        <p:txBody>
          <a:bodyPr vert="horz" wrap="none" lIns="91440" tIns="45720" rIns="91440" bIns="45720" numCol="1" anchor="ctr" anchorCtr="0" compatLnSpc="1">
            <a:prstTxWarp prst="textNoShape">
              <a:avLst/>
            </a:prstTxWarp>
            <a:normAutofit fontScale="25000" lnSpcReduction="20000"/>
          </a:bodyPr>
          <a:lstStyle/>
          <a:p>
            <a:pPr algn="ctr" eaLnBrk="0" fontAlgn="base" hangingPunct="0">
              <a:spcBef>
                <a:spcPct val="0"/>
              </a:spcBef>
              <a:spcAft>
                <a:spcPct val="0"/>
              </a:spcAft>
            </a:pPr>
            <a:endParaRPr lang="en-IN" sz="4000" dirty="0"/>
          </a:p>
          <a:p>
            <a:pPr algn="ctr" eaLnBrk="0" fontAlgn="base" hangingPunct="0">
              <a:spcBef>
                <a:spcPct val="0"/>
              </a:spcBef>
              <a:spcAft>
                <a:spcPct val="0"/>
              </a:spcAft>
            </a:pPr>
            <a:endParaRPr lang="en-IN" sz="4000" b="1" dirty="0"/>
          </a:p>
          <a:p>
            <a:pPr marL="0" marR="0" lvl="0" indent="0" algn="ctr" defTabSz="914400" rtl="0" eaLnBrk="0" fontAlgn="base" latinLnBrk="0" hangingPunct="0">
              <a:lnSpc>
                <a:spcPct val="100000"/>
              </a:lnSpc>
              <a:spcBef>
                <a:spcPct val="0"/>
              </a:spcBef>
              <a:spcAft>
                <a:spcPct val="0"/>
              </a:spcAft>
              <a:buClrTx/>
              <a:buSzTx/>
              <a:tabLst/>
            </a:pPr>
            <a:endParaRPr kumimoji="0" lang="en-US" altLang="en-US" sz="4000" b="0" i="0" u="none" strike="noStrike" cap="none" normalizeH="0" baseline="0" dirty="0">
              <a:ln>
                <a:noFill/>
              </a:ln>
              <a:solidFill>
                <a:schemeClr val="tx1"/>
              </a:solidFill>
              <a:effectLst/>
              <a:latin typeface="Aharoni" panose="02010803020104030203" pitchFamily="2" charset="-79"/>
              <a:cs typeface="Aharoni" panose="02010803020104030203" pitchFamily="2" charset="-79"/>
            </a:endParaRPr>
          </a:p>
          <a:p>
            <a:pPr>
              <a:buNone/>
            </a:pPr>
            <a:endParaRPr lang="en-IN" sz="8000" b="1" dirty="0"/>
          </a:p>
          <a:p>
            <a:r>
              <a:rPr lang="en-IN" sz="9800" b="1" dirty="0"/>
              <a:t>                                      </a:t>
            </a:r>
            <a:r>
              <a:rPr lang="en-IN" sz="9800" b="1" dirty="0">
                <a:latin typeface="Aharoni" panose="02010803020104030203" pitchFamily="2" charset="-79"/>
                <a:cs typeface="Aharoni" panose="02010803020104030203" pitchFamily="2" charset="-79"/>
              </a:rPr>
              <a:t>AGENDA</a:t>
            </a:r>
          </a:p>
          <a:p>
            <a:endParaRPr lang="en-IN" sz="4000" dirty="0"/>
          </a:p>
          <a:p>
            <a:endParaRPr lang="en-IN" sz="4000" dirty="0"/>
          </a:p>
          <a:p>
            <a:endParaRPr lang="en-IN" sz="4000" dirty="0"/>
          </a:p>
          <a:p>
            <a:pPr>
              <a:lnSpc>
                <a:spcPct val="170000"/>
              </a:lnSpc>
            </a:pPr>
            <a:r>
              <a:rPr lang="en-IN" sz="6700" dirty="0">
                <a:latin typeface="Aharoni" panose="02010803020104030203" pitchFamily="2" charset="-79"/>
                <a:cs typeface="Aharoni" panose="02010803020104030203" pitchFamily="2" charset="-79"/>
              </a:rPr>
              <a:t>	</a:t>
            </a:r>
            <a:r>
              <a:rPr lang="en-IN" sz="7400" dirty="0">
                <a:latin typeface="Aharoni" panose="02010803020104030203" pitchFamily="2" charset="-79"/>
                <a:cs typeface="Aharoni" panose="02010803020104030203" pitchFamily="2" charset="-79"/>
              </a:rPr>
              <a:t>1. Abstract                                       2. Problem Statement</a:t>
            </a:r>
          </a:p>
          <a:p>
            <a:pPr>
              <a:lnSpc>
                <a:spcPct val="170000"/>
              </a:lnSpc>
            </a:pPr>
            <a:r>
              <a:rPr lang="en-IN" sz="7400" dirty="0">
                <a:latin typeface="Aharoni" panose="02010803020104030203" pitchFamily="2" charset="-79"/>
                <a:cs typeface="Aharoni" panose="02010803020104030203" pitchFamily="2" charset="-79"/>
              </a:rPr>
              <a:t>	3. Objectives                                    4. Literature Survey</a:t>
            </a:r>
          </a:p>
          <a:p>
            <a:pPr>
              <a:lnSpc>
                <a:spcPct val="170000"/>
              </a:lnSpc>
            </a:pPr>
            <a:r>
              <a:rPr lang="en-IN" sz="7400" dirty="0">
                <a:latin typeface="Aharoni" panose="02010803020104030203" pitchFamily="2" charset="-79"/>
                <a:cs typeface="Aharoni" panose="02010803020104030203" pitchFamily="2" charset="-79"/>
              </a:rPr>
              <a:t>	5. Existing System                           6. Proposed System</a:t>
            </a:r>
          </a:p>
          <a:p>
            <a:pPr>
              <a:lnSpc>
                <a:spcPct val="170000"/>
              </a:lnSpc>
            </a:pPr>
            <a:r>
              <a:rPr lang="en-IN" sz="7400" dirty="0">
                <a:latin typeface="Aharoni" panose="02010803020104030203" pitchFamily="2" charset="-79"/>
                <a:cs typeface="Aharoni" panose="02010803020104030203" pitchFamily="2" charset="-79"/>
              </a:rPr>
              <a:t>	7. System Architecture                    8. Technologies Used</a:t>
            </a:r>
          </a:p>
          <a:p>
            <a:pPr>
              <a:lnSpc>
                <a:spcPct val="170000"/>
              </a:lnSpc>
            </a:pPr>
            <a:r>
              <a:rPr lang="en-IN" sz="7400" dirty="0">
                <a:latin typeface="Aharoni" panose="02010803020104030203" pitchFamily="2" charset="-79"/>
                <a:cs typeface="Aharoni" panose="02010803020104030203" pitchFamily="2" charset="-79"/>
              </a:rPr>
              <a:t>	9. Future Enhancements                 10. References</a:t>
            </a:r>
          </a:p>
          <a:p>
            <a:endParaRPr lang="en-IN" sz="7400" dirty="0">
              <a:latin typeface="Aharoni" panose="02010803020104030203" pitchFamily="2" charset="-79"/>
              <a:cs typeface="Aharoni" panose="02010803020104030203" pitchFamily="2" charset="-79"/>
            </a:endParaRPr>
          </a:p>
          <a:p>
            <a:pPr marL="0" marR="0" lvl="0" indent="0" algn="ctr" defTabSz="914400" rtl="0" eaLnBrk="0" fontAlgn="base" latinLnBrk="0" hangingPunct="0">
              <a:lnSpc>
                <a:spcPct val="100000"/>
              </a:lnSpc>
              <a:spcBef>
                <a:spcPct val="0"/>
              </a:spcBef>
              <a:spcAft>
                <a:spcPct val="0"/>
              </a:spcAft>
              <a:buClrTx/>
              <a:buSzTx/>
              <a:tabLst/>
            </a:pPr>
            <a:endParaRPr lang="en-US" altLang="en-US" sz="4000" dirty="0">
              <a:latin typeface="Aharoni" panose="02010803020104030203" pitchFamily="2" charset="-79"/>
              <a:cs typeface="Aharoni" panose="02010803020104030203" pitchFamily="2" charset="-79"/>
            </a:endParaRPr>
          </a:p>
          <a:p>
            <a:pPr marL="0" marR="0" lvl="0" indent="0" defTabSz="914400" rtl="0" eaLnBrk="0" fontAlgn="base" latinLnBrk="0" hangingPunct="0">
              <a:lnSpc>
                <a:spcPct val="100000"/>
              </a:lnSpc>
              <a:spcBef>
                <a:spcPct val="0"/>
              </a:spcBef>
              <a:spcAft>
                <a:spcPct val="0"/>
              </a:spcAft>
              <a:buClrTx/>
              <a:buSzTx/>
              <a:tabLst/>
            </a:pPr>
            <a:endParaRPr kumimoji="0" lang="en-US" altLang="en-US" sz="4000" b="0" i="0" u="none" strike="noStrike" cap="none" normalizeH="0" baseline="0" dirty="0">
              <a:ln>
                <a:noFill/>
              </a:ln>
              <a:solidFill>
                <a:schemeClr val="tx1"/>
              </a:solidFill>
              <a:effectLst/>
              <a:latin typeface="Aharoni" panose="02010803020104030203" pitchFamily="2" charset="-79"/>
              <a:cs typeface="Aharoni" panose="02010803020104030203" pitchFamily="2" charset="-79"/>
            </a:endParaRPr>
          </a:p>
          <a:p>
            <a:pPr marL="514350" marR="0" lvl="0" indent="-514350" defTabSz="914400" rtl="0" eaLnBrk="0" fontAlgn="base" latinLnBrk="0" hangingPunct="0">
              <a:lnSpc>
                <a:spcPct val="100000"/>
              </a:lnSpc>
              <a:spcBef>
                <a:spcPct val="0"/>
              </a:spcBef>
              <a:spcAft>
                <a:spcPct val="0"/>
              </a:spcAft>
              <a:buClrTx/>
              <a:buSzTx/>
              <a:buFont typeface="+mj-lt"/>
              <a:buAutoNum type="arabicPeriod"/>
              <a:tabLst/>
            </a:pPr>
            <a:endParaRPr lang="en-US" altLang="en-US" sz="2800" dirty="0">
              <a:latin typeface="Aharoni" panose="02010803020104030203" pitchFamily="2" charset="-79"/>
              <a:cs typeface="Aharoni" panose="02010803020104030203" pitchFamily="2" charset="-79"/>
            </a:endParaRPr>
          </a:p>
          <a:p>
            <a:pPr marL="514350" marR="0" lvl="0" indent="-514350"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800" b="0" i="0" u="none" strike="noStrike" cap="none" normalizeH="0" baseline="0" dirty="0">
              <a:ln>
                <a:noFill/>
              </a:ln>
              <a:solidFill>
                <a:schemeClr val="tx1"/>
              </a:solidFill>
              <a:effectLst/>
              <a:latin typeface="Aharoni" panose="02010803020104030203" pitchFamily="2" charset="-79"/>
              <a:cs typeface="Aharoni" panose="02010803020104030203" pitchFamily="2" charset="-79"/>
            </a:endParaRPr>
          </a:p>
          <a:p>
            <a:pPr marL="0" marR="0" lvl="0" indent="0" algn="ctr" defTabSz="914400" rtl="0" eaLnBrk="0" fontAlgn="base" latinLnBrk="0" hangingPunct="0">
              <a:lnSpc>
                <a:spcPct val="100000"/>
              </a:lnSpc>
              <a:spcBef>
                <a:spcPct val="0"/>
              </a:spcBef>
              <a:spcAft>
                <a:spcPct val="0"/>
              </a:spcAft>
              <a:buClrTx/>
              <a:buSzTx/>
              <a:tabLst/>
            </a:pPr>
            <a:endParaRPr lang="en-US" altLang="en-US" sz="2000" dirty="0">
              <a:latin typeface="Britannic Bold" panose="020B0903060703020204" pitchFamily="34" charset="0"/>
            </a:endParaRPr>
          </a:p>
          <a:p>
            <a:pPr marL="0" marR="0" lvl="0" indent="0" algn="ctr"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Britannic Bold" panose="020B0903060703020204" pitchFamily="34" charset="0"/>
            </a:endParaRPr>
          </a:p>
          <a:p>
            <a:pPr marL="0" marR="0" lvl="0" indent="0" algn="ctr" defTabSz="914400" rtl="0" eaLnBrk="0" fontAlgn="base" latinLnBrk="0" hangingPunct="0">
              <a:lnSpc>
                <a:spcPct val="100000"/>
              </a:lnSpc>
              <a:spcBef>
                <a:spcPct val="0"/>
              </a:spcBef>
              <a:spcAft>
                <a:spcPct val="0"/>
              </a:spcAft>
              <a:buClrTx/>
              <a:buSzTx/>
              <a:tabLst/>
            </a:pPr>
            <a:endParaRPr lang="en-US" altLang="en-US" sz="2000" dirty="0">
              <a:latin typeface="Britannic Bold" panose="020B0903060703020204" pitchFamily="34" charset="0"/>
            </a:endParaRPr>
          </a:p>
          <a:p>
            <a:pPr marL="0" marR="0" lvl="0" indent="0" algn="ctr"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Britannic Bold" panose="020B0903060703020204" pitchFamily="34" charset="0"/>
            </a:endParaRPr>
          </a:p>
          <a:p>
            <a:pPr marL="0" marR="0" lvl="0" indent="0" algn="ctr" defTabSz="914400" rtl="0" eaLnBrk="0" fontAlgn="base" latinLnBrk="0" hangingPunct="0">
              <a:lnSpc>
                <a:spcPct val="100000"/>
              </a:lnSpc>
              <a:spcBef>
                <a:spcPct val="0"/>
              </a:spcBef>
              <a:spcAft>
                <a:spcPct val="0"/>
              </a:spcAft>
              <a:buClrTx/>
              <a:buSzTx/>
              <a:tabLst/>
            </a:pPr>
            <a:endParaRPr lang="en-US" altLang="en-US" sz="2000" dirty="0">
              <a:latin typeface="Britannic Bold" panose="020B0903060703020204" pitchFamily="34" charset="0"/>
            </a:endParaRPr>
          </a:p>
          <a:p>
            <a:pPr marL="0" marR="0" lvl="0" indent="0" algn="ctr"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Britannic Bold" panose="020B0903060703020204" pitchFamily="34" charset="0"/>
            </a:endParaRPr>
          </a:p>
          <a:p>
            <a:pPr marL="0" marR="0" lvl="0" indent="0" algn="ctr"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Britannic Bold" panose="020B0903060703020204" pitchFamily="34" charset="0"/>
            </a:endParaRPr>
          </a:p>
        </p:txBody>
      </p:sp>
    </p:spTree>
    <p:extLst>
      <p:ext uri="{BB962C8B-B14F-4D97-AF65-F5344CB8AC3E}">
        <p14:creationId xmlns:p14="http://schemas.microsoft.com/office/powerpoint/2010/main" val="13863172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16AFCD8-7A2F-91B1-732A-093878615155}"/>
              </a:ext>
            </a:extLst>
          </p:cNvPr>
          <p:cNvSpPr txBox="1"/>
          <p:nvPr/>
        </p:nvSpPr>
        <p:spPr>
          <a:xfrm>
            <a:off x="226143" y="373626"/>
            <a:ext cx="2989006" cy="707886"/>
          </a:xfrm>
          <a:prstGeom prst="rect">
            <a:avLst/>
          </a:prstGeom>
          <a:noFill/>
        </p:spPr>
        <p:txBody>
          <a:bodyPr wrap="square" rtlCol="0">
            <a:spAutoFit/>
          </a:bodyPr>
          <a:lstStyle/>
          <a:p>
            <a:r>
              <a:rPr lang="en-IN" sz="4000" dirty="0">
                <a:solidFill>
                  <a:schemeClr val="accent1"/>
                </a:solidFill>
                <a:latin typeface="Aharoni" panose="02010803020104030203" pitchFamily="2" charset="-79"/>
                <a:cs typeface="Aharoni" panose="02010803020104030203" pitchFamily="2" charset="-79"/>
              </a:rPr>
              <a:t>ABSTRACT</a:t>
            </a:r>
            <a:r>
              <a:rPr lang="en-IN" dirty="0">
                <a:solidFill>
                  <a:srgbClr val="00B0F0"/>
                </a:solidFill>
                <a:latin typeface="Aharoni" panose="02010803020104030203" pitchFamily="2" charset="-79"/>
                <a:cs typeface="Aharoni" panose="02010803020104030203" pitchFamily="2" charset="-79"/>
              </a:rPr>
              <a:t> </a:t>
            </a:r>
          </a:p>
        </p:txBody>
      </p:sp>
      <p:sp>
        <p:nvSpPr>
          <p:cNvPr id="7" name="TextBox 6">
            <a:extLst>
              <a:ext uri="{FF2B5EF4-FFF2-40B4-BE49-F238E27FC236}">
                <a16:creationId xmlns:a16="http://schemas.microsoft.com/office/drawing/2014/main" id="{5925B0C6-5B5E-04D3-D750-518D418F4251}"/>
              </a:ext>
            </a:extLst>
          </p:cNvPr>
          <p:cNvSpPr txBox="1"/>
          <p:nvPr/>
        </p:nvSpPr>
        <p:spPr>
          <a:xfrm>
            <a:off x="7767484" y="0"/>
            <a:ext cx="4424516" cy="6878806"/>
          </a:xfrm>
          <a:prstGeom prst="rect">
            <a:avLst/>
          </a:prstGeom>
          <a:solidFill>
            <a:srgbClr val="7FDFFF"/>
          </a:solidFill>
          <a:ln>
            <a:solidFill>
              <a:schemeClr val="accent1"/>
            </a:solidFill>
          </a:ln>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0" i="0" u="none" strike="noStrike" cap="none" normalizeH="0" baseline="0" dirty="0">
                <a:ln>
                  <a:noFill/>
                </a:ln>
                <a:solidFill>
                  <a:schemeClr val="tx1"/>
                </a:solidFill>
                <a:effectLst/>
                <a:latin typeface="Britannic Bold" panose="020B0903060703020204" pitchFamily="34" charset="0"/>
              </a:rPr>
              <a:t>The </a:t>
            </a:r>
            <a:r>
              <a:rPr kumimoji="0" lang="en-US" altLang="en-US" sz="2100" b="1" i="0" u="none" strike="noStrike" cap="none" normalizeH="0" baseline="0" dirty="0">
                <a:ln>
                  <a:noFill/>
                </a:ln>
                <a:solidFill>
                  <a:schemeClr val="tx1"/>
                </a:solidFill>
                <a:effectLst/>
                <a:latin typeface="Britannic Bold" panose="020B0903060703020204" pitchFamily="34" charset="0"/>
              </a:rPr>
              <a:t>Maritime Border Alert System</a:t>
            </a:r>
            <a:r>
              <a:rPr kumimoji="0" lang="en-US" altLang="en-US" sz="2100" b="0" i="0" u="none" strike="noStrike" cap="none" normalizeH="0" baseline="0" dirty="0">
                <a:ln>
                  <a:noFill/>
                </a:ln>
                <a:solidFill>
                  <a:schemeClr val="tx1"/>
                </a:solidFill>
                <a:effectLst/>
                <a:latin typeface="Britannic Bold" panose="020B0903060703020204" pitchFamily="34" charset="0"/>
              </a:rPr>
              <a:t> automates real-time tracking and warnings for fishermen near international boundaries using GPS and LoRa communication. Fishermen’s locations are continuously monitored, and alerts are triggered if they approach or cross restricted waters. The system operates without internet, using LoRa to transmit coordinates to an onshore server, which processes the data and issues alerts via mobile devices or onboard systems. Automated detection, real-time notifications, and data logging enhance maritime security, prevent accidental border crossings, and ensure compliance with international regulations while safeguarding fishermen.</a:t>
            </a:r>
          </a:p>
        </p:txBody>
      </p:sp>
      <p:pic>
        <p:nvPicPr>
          <p:cNvPr id="2052" name="Picture 4">
            <a:extLst>
              <a:ext uri="{FF2B5EF4-FFF2-40B4-BE49-F238E27FC236}">
                <a16:creationId xmlns:a16="http://schemas.microsoft.com/office/drawing/2014/main" id="{8F54D3B0-4AC4-9C7A-CE61-FE769DEE33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947" y="1280958"/>
            <a:ext cx="7547795" cy="49920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2878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C005E-6BC9-AE80-378E-44B05863DCF2}"/>
              </a:ext>
            </a:extLst>
          </p:cNvPr>
          <p:cNvSpPr>
            <a:spLocks noGrp="1"/>
          </p:cNvSpPr>
          <p:nvPr>
            <p:ph type="title"/>
          </p:nvPr>
        </p:nvSpPr>
        <p:spPr>
          <a:xfrm>
            <a:off x="919119" y="609600"/>
            <a:ext cx="10353762" cy="1257300"/>
          </a:xfrm>
        </p:spPr>
        <p:txBody>
          <a:bodyPr>
            <a:normAutofit/>
          </a:bodyPr>
          <a:lstStyle/>
          <a:p>
            <a:r>
              <a:rPr lang="en-IN" sz="4000" b="1" dirty="0">
                <a:solidFill>
                  <a:srgbClr val="1A86A9"/>
                </a:solidFill>
                <a:effectLst/>
                <a:latin typeface="Aharoni" panose="02010803020104030203" pitchFamily="2" charset="-79"/>
                <a:cs typeface="Aharoni" panose="02010803020104030203" pitchFamily="2" charset="-79"/>
              </a:rPr>
              <a:t>OBJECTIVES</a:t>
            </a:r>
          </a:p>
        </p:txBody>
      </p:sp>
      <p:sp>
        <p:nvSpPr>
          <p:cNvPr id="3" name="TextBox 2">
            <a:extLst>
              <a:ext uri="{FF2B5EF4-FFF2-40B4-BE49-F238E27FC236}">
                <a16:creationId xmlns:a16="http://schemas.microsoft.com/office/drawing/2014/main" id="{097D117B-5D5E-08C7-9889-A03AB5D1418E}"/>
              </a:ext>
            </a:extLst>
          </p:cNvPr>
          <p:cNvSpPr txBox="1"/>
          <p:nvPr/>
        </p:nvSpPr>
        <p:spPr>
          <a:xfrm>
            <a:off x="1030146" y="1866900"/>
            <a:ext cx="10648709" cy="4062651"/>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sz="2000" dirty="0">
                <a:latin typeface="Aharoni" panose="02010803020104030203" pitchFamily="2" charset="-79"/>
                <a:cs typeface="Aharoni" panose="02010803020104030203" pitchFamily="2" charset="-79"/>
              </a:rPr>
              <a:t> To </a:t>
            </a:r>
            <a:r>
              <a:rPr lang="en-US" sz="2000" b="1" dirty="0">
                <a:latin typeface="Aharoni" panose="02010803020104030203" pitchFamily="2" charset="-79"/>
                <a:cs typeface="Aharoni" panose="02010803020104030203" pitchFamily="2" charset="-79"/>
              </a:rPr>
              <a:t>monitor the real-time location of fishermen</a:t>
            </a:r>
            <a:r>
              <a:rPr lang="en-US" sz="2000" dirty="0">
                <a:latin typeface="Aharoni" panose="02010803020104030203" pitchFamily="2" charset="-79"/>
                <a:cs typeface="Aharoni" panose="02010803020104030203" pitchFamily="2" charset="-79"/>
              </a:rPr>
              <a:t> near maritime borders using GPS                and LoRa communication.</a:t>
            </a:r>
          </a:p>
          <a:p>
            <a:pPr marL="342900" indent="-342900">
              <a:lnSpc>
                <a:spcPct val="150000"/>
              </a:lnSpc>
              <a:buFont typeface="Wingdings" panose="05000000000000000000" pitchFamily="2" charset="2"/>
              <a:buChar char="Ø"/>
            </a:pPr>
            <a:r>
              <a:rPr lang="en-US" sz="2000" dirty="0">
                <a:latin typeface="Aharoni" panose="02010803020104030203" pitchFamily="2" charset="-79"/>
                <a:cs typeface="Aharoni" panose="02010803020104030203" pitchFamily="2" charset="-79"/>
              </a:rPr>
              <a:t>To </a:t>
            </a:r>
            <a:r>
              <a:rPr lang="en-US" sz="2000" b="1" dirty="0">
                <a:latin typeface="Aharoni" panose="02010803020104030203" pitchFamily="2" charset="-79"/>
                <a:cs typeface="Aharoni" panose="02010803020104030203" pitchFamily="2" charset="-79"/>
              </a:rPr>
              <a:t>automatically detect and alert</a:t>
            </a:r>
            <a:r>
              <a:rPr lang="en-US" sz="2000" dirty="0">
                <a:latin typeface="Aharoni" panose="02010803020104030203" pitchFamily="2" charset="-79"/>
                <a:cs typeface="Aharoni" panose="02010803020104030203" pitchFamily="2" charset="-79"/>
              </a:rPr>
              <a:t> when vessels approach or cross restricted maritime boundaries.</a:t>
            </a:r>
          </a:p>
          <a:p>
            <a:pPr marL="342900" indent="-342900">
              <a:lnSpc>
                <a:spcPct val="150000"/>
              </a:lnSpc>
              <a:buFont typeface="Wingdings" panose="05000000000000000000" pitchFamily="2" charset="2"/>
              <a:buChar char="Ø"/>
            </a:pPr>
            <a:r>
              <a:rPr lang="en-US" sz="2000" dirty="0">
                <a:latin typeface="Aharoni" panose="02010803020104030203" pitchFamily="2" charset="-79"/>
                <a:cs typeface="Aharoni" panose="02010803020104030203" pitchFamily="2" charset="-79"/>
              </a:rPr>
              <a:t>To </a:t>
            </a:r>
            <a:r>
              <a:rPr lang="en-US" sz="2000" b="1" dirty="0">
                <a:latin typeface="Aharoni" panose="02010803020104030203" pitchFamily="2" charset="-79"/>
                <a:cs typeface="Aharoni" panose="02010803020104030203" pitchFamily="2" charset="-79"/>
              </a:rPr>
              <a:t>reduce accidental border crossings</a:t>
            </a:r>
            <a:r>
              <a:rPr lang="en-US" sz="2000" dirty="0">
                <a:latin typeface="Aharoni" panose="02010803020104030203" pitchFamily="2" charset="-79"/>
                <a:cs typeface="Aharoni" panose="02010803020104030203" pitchFamily="2" charset="-79"/>
              </a:rPr>
              <a:t> and improve safety by providing timely warnings without internet dependency.</a:t>
            </a:r>
          </a:p>
          <a:p>
            <a:pPr marL="342900" indent="-342900">
              <a:lnSpc>
                <a:spcPct val="150000"/>
              </a:lnSpc>
              <a:buFont typeface="Wingdings" panose="05000000000000000000" pitchFamily="2" charset="2"/>
              <a:buChar char="Ø"/>
            </a:pPr>
            <a:r>
              <a:rPr lang="en-US" sz="2000" dirty="0">
                <a:latin typeface="Aharoni" panose="02010803020104030203" pitchFamily="2" charset="-79"/>
                <a:cs typeface="Aharoni" panose="02010803020104030203" pitchFamily="2" charset="-79"/>
              </a:rPr>
              <a:t>To ensure compliance with </a:t>
            </a:r>
            <a:r>
              <a:rPr lang="en-US" sz="2000" b="1" dirty="0">
                <a:latin typeface="Aharoni" panose="02010803020104030203" pitchFamily="2" charset="-79"/>
                <a:cs typeface="Aharoni" panose="02010803020104030203" pitchFamily="2" charset="-79"/>
              </a:rPr>
              <a:t>international maritime regulations</a:t>
            </a:r>
            <a:r>
              <a:rPr lang="en-US" sz="2000" dirty="0">
                <a:latin typeface="Aharoni" panose="02010803020104030203" pitchFamily="2" charset="-79"/>
                <a:cs typeface="Aharoni" panose="02010803020104030203" pitchFamily="2" charset="-79"/>
              </a:rPr>
              <a:t> through automated tracking and data logging.</a:t>
            </a:r>
          </a:p>
          <a:p>
            <a:endParaRPr lang="en-IN" dirty="0"/>
          </a:p>
        </p:txBody>
      </p:sp>
      <p:sp>
        <p:nvSpPr>
          <p:cNvPr id="5" name="TextBox 4">
            <a:extLst>
              <a:ext uri="{FF2B5EF4-FFF2-40B4-BE49-F238E27FC236}">
                <a16:creationId xmlns:a16="http://schemas.microsoft.com/office/drawing/2014/main" id="{C35D69A7-9317-7CFA-CD5D-0C9B9345D3D8}"/>
              </a:ext>
            </a:extLst>
          </p:cNvPr>
          <p:cNvSpPr txBox="1"/>
          <p:nvPr/>
        </p:nvSpPr>
        <p:spPr>
          <a:xfrm>
            <a:off x="3918030" y="3429000"/>
            <a:ext cx="6169306" cy="1855764"/>
          </a:xfrm>
          <a:prstGeom prst="rect">
            <a:avLst/>
          </a:prstGeom>
          <a:noFill/>
        </p:spPr>
        <p:txBody>
          <a:bodyPr wrap="square">
            <a:spAutoFit/>
          </a:bodyPr>
          <a:lstStyle/>
          <a:p>
            <a:endParaRPr lang="en-IN" sz="1800" dirty="0"/>
          </a:p>
          <a:p>
            <a:endParaRPr lang="en-IN" sz="1800" dirty="0"/>
          </a:p>
          <a:p>
            <a:endParaRPr lang="en-IN" sz="1800" dirty="0"/>
          </a:p>
          <a:p>
            <a:pPr>
              <a:lnSpc>
                <a:spcPct val="170000"/>
              </a:lnSpc>
            </a:pPr>
            <a:r>
              <a:rPr lang="en-IN" sz="4000" dirty="0">
                <a:latin typeface="Aharoni" panose="02010803020104030203" pitchFamily="2" charset="-79"/>
                <a:cs typeface="Aharoni" panose="02010803020104030203" pitchFamily="2" charset="-79"/>
              </a:rPr>
              <a:t>	</a:t>
            </a:r>
            <a:endParaRPr lang="en-IN" dirty="0"/>
          </a:p>
        </p:txBody>
      </p:sp>
    </p:spTree>
    <p:extLst>
      <p:ext uri="{BB962C8B-B14F-4D97-AF65-F5344CB8AC3E}">
        <p14:creationId xmlns:p14="http://schemas.microsoft.com/office/powerpoint/2010/main" val="17752495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2EE23-E335-41E8-D930-C06939C13A96}"/>
              </a:ext>
            </a:extLst>
          </p:cNvPr>
          <p:cNvSpPr>
            <a:spLocks noGrp="1"/>
          </p:cNvSpPr>
          <p:nvPr>
            <p:ph type="title"/>
          </p:nvPr>
        </p:nvSpPr>
        <p:spPr>
          <a:xfrm>
            <a:off x="924443" y="397879"/>
            <a:ext cx="10353762" cy="1257300"/>
          </a:xfrm>
        </p:spPr>
        <p:txBody>
          <a:bodyPr>
            <a:normAutofit/>
          </a:bodyPr>
          <a:lstStyle/>
          <a:p>
            <a:r>
              <a:rPr lang="en-IN" sz="4000" b="1" dirty="0">
                <a:solidFill>
                  <a:srgbClr val="1A86A9"/>
                </a:solidFill>
                <a:effectLst/>
                <a:latin typeface="Aharoni" panose="02010803020104030203" pitchFamily="2" charset="-79"/>
                <a:cs typeface="Aharoni" panose="02010803020104030203" pitchFamily="2" charset="-79"/>
              </a:rPr>
              <a:t>LITERATURE SURVEY</a:t>
            </a:r>
          </a:p>
        </p:txBody>
      </p:sp>
      <p:sp>
        <p:nvSpPr>
          <p:cNvPr id="3" name="TextBox 2">
            <a:extLst>
              <a:ext uri="{FF2B5EF4-FFF2-40B4-BE49-F238E27FC236}">
                <a16:creationId xmlns:a16="http://schemas.microsoft.com/office/drawing/2014/main" id="{88BF88F4-3925-2AE9-A775-6154CFE7EC0C}"/>
              </a:ext>
            </a:extLst>
          </p:cNvPr>
          <p:cNvSpPr txBox="1"/>
          <p:nvPr/>
        </p:nvSpPr>
        <p:spPr>
          <a:xfrm>
            <a:off x="924443" y="1502688"/>
            <a:ext cx="10353762" cy="5355312"/>
          </a:xfrm>
          <a:prstGeom prst="rect">
            <a:avLst/>
          </a:prstGeom>
          <a:noFill/>
        </p:spPr>
        <p:txBody>
          <a:bodyPr wrap="square" rtlCol="0">
            <a:spAutoFit/>
          </a:bodyPr>
          <a:lstStyle/>
          <a:p>
            <a:pPr>
              <a:lnSpc>
                <a:spcPct val="150000"/>
              </a:lnSpc>
              <a:buNone/>
            </a:pPr>
            <a:r>
              <a:rPr lang="en-US" dirty="0">
                <a:latin typeface="Aharoni" panose="02010803020104030203" pitchFamily="2" charset="-79"/>
                <a:cs typeface="Aharoni" panose="02010803020104030203" pitchFamily="2" charset="-79"/>
              </a:rPr>
              <a:t>1️⃣ </a:t>
            </a:r>
            <a:r>
              <a:rPr lang="en-US" b="1" dirty="0">
                <a:latin typeface="Aharoni" panose="02010803020104030203" pitchFamily="2" charset="-79"/>
                <a:cs typeface="Aharoni" panose="02010803020104030203" pitchFamily="2" charset="-79"/>
              </a:rPr>
              <a:t>Smart Maritime Boundary Monitoring Using IoT Technologies</a:t>
            </a:r>
            <a:br>
              <a:rPr lang="en-US" dirty="0">
                <a:latin typeface="Aharoni" panose="02010803020104030203" pitchFamily="2" charset="-79"/>
                <a:cs typeface="Aharoni" panose="02010803020104030203" pitchFamily="2" charset="-79"/>
              </a:rPr>
            </a:br>
            <a:r>
              <a:rPr lang="en-US" dirty="0">
                <a:latin typeface="Aharoni" panose="02010803020104030203" pitchFamily="2" charset="-79"/>
                <a:cs typeface="Aharoni" panose="02010803020104030203" pitchFamily="2" charset="-79"/>
              </a:rPr>
              <a:t>Discusses various IoT-based methods for maritime surveillance, emphasizing GPS and wireless communication (like LoRa) to track and alert vessels near international borders. Highlights the challenges of connectivity and real-time enforcement.</a:t>
            </a:r>
          </a:p>
          <a:p>
            <a:pPr>
              <a:lnSpc>
                <a:spcPct val="150000"/>
              </a:lnSpc>
              <a:buNone/>
            </a:pPr>
            <a:r>
              <a:rPr lang="en-US" dirty="0">
                <a:latin typeface="Aharoni" panose="02010803020104030203" pitchFamily="2" charset="-79"/>
                <a:cs typeface="Aharoni" panose="02010803020104030203" pitchFamily="2" charset="-79"/>
              </a:rPr>
              <a:t>2️⃣ </a:t>
            </a:r>
            <a:r>
              <a:rPr lang="en-US" b="1" dirty="0">
                <a:latin typeface="Aharoni" panose="02010803020104030203" pitchFamily="2" charset="-79"/>
                <a:cs typeface="Aharoni" panose="02010803020104030203" pitchFamily="2" charset="-79"/>
              </a:rPr>
              <a:t>Application of LoRa in Remote Maritime Areas</a:t>
            </a:r>
            <a:br>
              <a:rPr lang="en-US" dirty="0">
                <a:latin typeface="Aharoni" panose="02010803020104030203" pitchFamily="2" charset="-79"/>
                <a:cs typeface="Aharoni" panose="02010803020104030203" pitchFamily="2" charset="-79"/>
              </a:rPr>
            </a:br>
            <a:r>
              <a:rPr lang="en-US" dirty="0">
                <a:latin typeface="Aharoni" panose="02010803020104030203" pitchFamily="2" charset="-79"/>
                <a:cs typeface="Aharoni" panose="02010803020104030203" pitchFamily="2" charset="-79"/>
              </a:rPr>
              <a:t>Analyzes the use of </a:t>
            </a:r>
            <a:r>
              <a:rPr lang="en-US" dirty="0" err="1">
                <a:latin typeface="Aharoni" panose="02010803020104030203" pitchFamily="2" charset="-79"/>
                <a:cs typeface="Aharoni" panose="02010803020104030203" pitchFamily="2" charset="-79"/>
              </a:rPr>
              <a:t>LoRaWAN</a:t>
            </a:r>
            <a:r>
              <a:rPr lang="en-US" dirty="0">
                <a:latin typeface="Aharoni" panose="02010803020104030203" pitchFamily="2" charset="-79"/>
                <a:cs typeface="Aharoni" panose="02010803020104030203" pitchFamily="2" charset="-79"/>
              </a:rPr>
              <a:t> technology for long-range communication in offshore regions. It reviews successful case studies where LoRa was used to maintain low-power, reliable communication between vessels and coastal stations.</a:t>
            </a:r>
          </a:p>
          <a:p>
            <a:pPr>
              <a:lnSpc>
                <a:spcPct val="150000"/>
              </a:lnSpc>
            </a:pPr>
            <a:r>
              <a:rPr lang="en-US" dirty="0">
                <a:latin typeface="Aharoni" panose="02010803020104030203" pitchFamily="2" charset="-79"/>
                <a:cs typeface="Aharoni" panose="02010803020104030203" pitchFamily="2" charset="-79"/>
              </a:rPr>
              <a:t>3️⃣ </a:t>
            </a:r>
            <a:r>
              <a:rPr lang="en-US" b="1" dirty="0">
                <a:latin typeface="Aharoni" panose="02010803020104030203" pitchFamily="2" charset="-79"/>
                <a:cs typeface="Aharoni" panose="02010803020104030203" pitchFamily="2" charset="-79"/>
              </a:rPr>
              <a:t>Fishermen Safety and Maritime Security: A Review of Technological Solutions</a:t>
            </a:r>
            <a:br>
              <a:rPr lang="en-US" dirty="0">
                <a:latin typeface="Aharoni" panose="02010803020104030203" pitchFamily="2" charset="-79"/>
                <a:cs typeface="Aharoni" panose="02010803020104030203" pitchFamily="2" charset="-79"/>
              </a:rPr>
            </a:br>
            <a:r>
              <a:rPr lang="en-US" dirty="0">
                <a:latin typeface="Aharoni" panose="02010803020104030203" pitchFamily="2" charset="-79"/>
                <a:cs typeface="Aharoni" panose="02010803020104030203" pitchFamily="2" charset="-79"/>
              </a:rPr>
              <a:t>Reviews existing safety measures for fishermen, underlining the limitations of manual monitoring and the growing need for automated alert systems using GPS-based technologies for improved border safety.</a:t>
            </a:r>
          </a:p>
          <a:p>
            <a:endParaRPr lang="en-IN" dirty="0">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35134250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4E26B8-C2BF-6E88-9004-6659759C4254}"/>
              </a:ext>
            </a:extLst>
          </p:cNvPr>
          <p:cNvSpPr txBox="1"/>
          <p:nvPr/>
        </p:nvSpPr>
        <p:spPr>
          <a:xfrm>
            <a:off x="196641" y="114110"/>
            <a:ext cx="5466736" cy="707886"/>
          </a:xfrm>
          <a:prstGeom prst="rect">
            <a:avLst/>
          </a:prstGeom>
          <a:noFill/>
        </p:spPr>
        <p:txBody>
          <a:bodyPr wrap="square" rtlCol="0">
            <a:spAutoFit/>
          </a:bodyPr>
          <a:lstStyle/>
          <a:p>
            <a:r>
              <a:rPr lang="en-IN" sz="4000" dirty="0">
                <a:solidFill>
                  <a:schemeClr val="accent1"/>
                </a:solidFill>
                <a:latin typeface="Aharoni" panose="02010803020104030203" pitchFamily="2" charset="-79"/>
                <a:cs typeface="Aharoni" panose="02010803020104030203" pitchFamily="2" charset="-79"/>
              </a:rPr>
              <a:t>PROBLEM</a:t>
            </a:r>
            <a:r>
              <a:rPr lang="en-IN" sz="4000" dirty="0">
                <a:latin typeface="Aharoni" panose="02010803020104030203" pitchFamily="2" charset="-79"/>
                <a:cs typeface="Aharoni" panose="02010803020104030203" pitchFamily="2" charset="-79"/>
              </a:rPr>
              <a:t> </a:t>
            </a:r>
            <a:r>
              <a:rPr lang="en-IN" sz="4000" dirty="0">
                <a:solidFill>
                  <a:schemeClr val="accent1"/>
                </a:solidFill>
                <a:latin typeface="Aharoni" panose="02010803020104030203" pitchFamily="2" charset="-79"/>
                <a:cs typeface="Aharoni" panose="02010803020104030203" pitchFamily="2" charset="-79"/>
              </a:rPr>
              <a:t>STATEMENT</a:t>
            </a:r>
          </a:p>
        </p:txBody>
      </p:sp>
      <p:sp>
        <p:nvSpPr>
          <p:cNvPr id="5" name="Rectangle 1">
            <a:extLst>
              <a:ext uri="{FF2B5EF4-FFF2-40B4-BE49-F238E27FC236}">
                <a16:creationId xmlns:a16="http://schemas.microsoft.com/office/drawing/2014/main" id="{CEA616FD-1A73-8AEB-F7D2-8DF332706C83}"/>
              </a:ext>
            </a:extLst>
          </p:cNvPr>
          <p:cNvSpPr>
            <a:spLocks noChangeArrowheads="1"/>
          </p:cNvSpPr>
          <p:nvPr/>
        </p:nvSpPr>
        <p:spPr bwMode="auto">
          <a:xfrm>
            <a:off x="255635" y="804122"/>
            <a:ext cx="11739724" cy="1323439"/>
          </a:xfrm>
          <a:custGeom>
            <a:avLst/>
            <a:gdLst>
              <a:gd name="connsiteX0" fmla="*/ 0 w 11739724"/>
              <a:gd name="connsiteY0" fmla="*/ 0 h 1323439"/>
              <a:gd name="connsiteX1" fmla="*/ 704383 w 11739724"/>
              <a:gd name="connsiteY1" fmla="*/ 0 h 1323439"/>
              <a:gd name="connsiteX2" fmla="*/ 1408767 w 11739724"/>
              <a:gd name="connsiteY2" fmla="*/ 0 h 1323439"/>
              <a:gd name="connsiteX3" fmla="*/ 1878356 w 11739724"/>
              <a:gd name="connsiteY3" fmla="*/ 0 h 1323439"/>
              <a:gd name="connsiteX4" fmla="*/ 2230548 w 11739724"/>
              <a:gd name="connsiteY4" fmla="*/ 0 h 1323439"/>
              <a:gd name="connsiteX5" fmla="*/ 3052328 w 11739724"/>
              <a:gd name="connsiteY5" fmla="*/ 0 h 1323439"/>
              <a:gd name="connsiteX6" fmla="*/ 3874109 w 11739724"/>
              <a:gd name="connsiteY6" fmla="*/ 0 h 1323439"/>
              <a:gd name="connsiteX7" fmla="*/ 4695890 w 11739724"/>
              <a:gd name="connsiteY7" fmla="*/ 0 h 1323439"/>
              <a:gd name="connsiteX8" fmla="*/ 5517670 w 11739724"/>
              <a:gd name="connsiteY8" fmla="*/ 0 h 1323439"/>
              <a:gd name="connsiteX9" fmla="*/ 6339451 w 11739724"/>
              <a:gd name="connsiteY9" fmla="*/ 0 h 1323439"/>
              <a:gd name="connsiteX10" fmla="*/ 6809040 w 11739724"/>
              <a:gd name="connsiteY10" fmla="*/ 0 h 1323439"/>
              <a:gd name="connsiteX11" fmla="*/ 7278629 w 11739724"/>
              <a:gd name="connsiteY11" fmla="*/ 0 h 1323439"/>
              <a:gd name="connsiteX12" fmla="*/ 7630821 w 11739724"/>
              <a:gd name="connsiteY12" fmla="*/ 0 h 1323439"/>
              <a:gd name="connsiteX13" fmla="*/ 8100410 w 11739724"/>
              <a:gd name="connsiteY13" fmla="*/ 0 h 1323439"/>
              <a:gd name="connsiteX14" fmla="*/ 8452601 w 11739724"/>
              <a:gd name="connsiteY14" fmla="*/ 0 h 1323439"/>
              <a:gd name="connsiteX15" fmla="*/ 8804793 w 11739724"/>
              <a:gd name="connsiteY15" fmla="*/ 0 h 1323439"/>
              <a:gd name="connsiteX16" fmla="*/ 9391779 w 11739724"/>
              <a:gd name="connsiteY16" fmla="*/ 0 h 1323439"/>
              <a:gd name="connsiteX17" fmla="*/ 9861368 w 11739724"/>
              <a:gd name="connsiteY17" fmla="*/ 0 h 1323439"/>
              <a:gd name="connsiteX18" fmla="*/ 10565752 w 11739724"/>
              <a:gd name="connsiteY18" fmla="*/ 0 h 1323439"/>
              <a:gd name="connsiteX19" fmla="*/ 11739724 w 11739724"/>
              <a:gd name="connsiteY19" fmla="*/ 0 h 1323439"/>
              <a:gd name="connsiteX20" fmla="*/ 11739724 w 11739724"/>
              <a:gd name="connsiteY20" fmla="*/ 467615 h 1323439"/>
              <a:gd name="connsiteX21" fmla="*/ 11739724 w 11739724"/>
              <a:gd name="connsiteY21" fmla="*/ 935230 h 1323439"/>
              <a:gd name="connsiteX22" fmla="*/ 11739724 w 11739724"/>
              <a:gd name="connsiteY22" fmla="*/ 1323439 h 1323439"/>
              <a:gd name="connsiteX23" fmla="*/ 11035341 w 11739724"/>
              <a:gd name="connsiteY23" fmla="*/ 1323439 h 1323439"/>
              <a:gd name="connsiteX24" fmla="*/ 10565752 w 11739724"/>
              <a:gd name="connsiteY24" fmla="*/ 1323439 h 1323439"/>
              <a:gd name="connsiteX25" fmla="*/ 9978765 w 11739724"/>
              <a:gd name="connsiteY25" fmla="*/ 1323439 h 1323439"/>
              <a:gd name="connsiteX26" fmla="*/ 9274382 w 11739724"/>
              <a:gd name="connsiteY26" fmla="*/ 1323439 h 1323439"/>
              <a:gd name="connsiteX27" fmla="*/ 8922190 w 11739724"/>
              <a:gd name="connsiteY27" fmla="*/ 1323439 h 1323439"/>
              <a:gd name="connsiteX28" fmla="*/ 8335204 w 11739724"/>
              <a:gd name="connsiteY28" fmla="*/ 1323439 h 1323439"/>
              <a:gd name="connsiteX29" fmla="*/ 7630821 w 11739724"/>
              <a:gd name="connsiteY29" fmla="*/ 1323439 h 1323439"/>
              <a:gd name="connsiteX30" fmla="*/ 6926437 w 11739724"/>
              <a:gd name="connsiteY30" fmla="*/ 1323439 h 1323439"/>
              <a:gd name="connsiteX31" fmla="*/ 6339451 w 11739724"/>
              <a:gd name="connsiteY31" fmla="*/ 1323439 h 1323439"/>
              <a:gd name="connsiteX32" fmla="*/ 5869862 w 11739724"/>
              <a:gd name="connsiteY32" fmla="*/ 1323439 h 1323439"/>
              <a:gd name="connsiteX33" fmla="*/ 5165479 w 11739724"/>
              <a:gd name="connsiteY33" fmla="*/ 1323439 h 1323439"/>
              <a:gd name="connsiteX34" fmla="*/ 4461095 w 11739724"/>
              <a:gd name="connsiteY34" fmla="*/ 1323439 h 1323439"/>
              <a:gd name="connsiteX35" fmla="*/ 4108903 w 11739724"/>
              <a:gd name="connsiteY35" fmla="*/ 1323439 h 1323439"/>
              <a:gd name="connsiteX36" fmla="*/ 3287123 w 11739724"/>
              <a:gd name="connsiteY36" fmla="*/ 1323439 h 1323439"/>
              <a:gd name="connsiteX37" fmla="*/ 2934931 w 11739724"/>
              <a:gd name="connsiteY37" fmla="*/ 1323439 h 1323439"/>
              <a:gd name="connsiteX38" fmla="*/ 2465342 w 11739724"/>
              <a:gd name="connsiteY38" fmla="*/ 1323439 h 1323439"/>
              <a:gd name="connsiteX39" fmla="*/ 1760959 w 11739724"/>
              <a:gd name="connsiteY39" fmla="*/ 1323439 h 1323439"/>
              <a:gd name="connsiteX40" fmla="*/ 1408767 w 11739724"/>
              <a:gd name="connsiteY40" fmla="*/ 1323439 h 1323439"/>
              <a:gd name="connsiteX41" fmla="*/ 586986 w 11739724"/>
              <a:gd name="connsiteY41" fmla="*/ 1323439 h 1323439"/>
              <a:gd name="connsiteX42" fmla="*/ 0 w 11739724"/>
              <a:gd name="connsiteY42" fmla="*/ 1323439 h 1323439"/>
              <a:gd name="connsiteX43" fmla="*/ 0 w 11739724"/>
              <a:gd name="connsiteY43" fmla="*/ 921996 h 1323439"/>
              <a:gd name="connsiteX44" fmla="*/ 0 w 11739724"/>
              <a:gd name="connsiteY44" fmla="*/ 480850 h 1323439"/>
              <a:gd name="connsiteX45" fmla="*/ 0 w 11739724"/>
              <a:gd name="connsiteY45" fmla="*/ 0 h 1323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1739724" h="1323439" fill="none" extrusionOk="0">
                <a:moveTo>
                  <a:pt x="0" y="0"/>
                </a:moveTo>
                <a:cubicBezTo>
                  <a:pt x="326821" y="-41456"/>
                  <a:pt x="371133" y="8586"/>
                  <a:pt x="704383" y="0"/>
                </a:cubicBezTo>
                <a:cubicBezTo>
                  <a:pt x="1037633" y="-8586"/>
                  <a:pt x="1124359" y="28516"/>
                  <a:pt x="1408767" y="0"/>
                </a:cubicBezTo>
                <a:cubicBezTo>
                  <a:pt x="1693175" y="-28516"/>
                  <a:pt x="1689679" y="45768"/>
                  <a:pt x="1878356" y="0"/>
                </a:cubicBezTo>
                <a:cubicBezTo>
                  <a:pt x="2067033" y="-45768"/>
                  <a:pt x="2156967" y="31755"/>
                  <a:pt x="2230548" y="0"/>
                </a:cubicBezTo>
                <a:cubicBezTo>
                  <a:pt x="2304129" y="-31755"/>
                  <a:pt x="2828924" y="92332"/>
                  <a:pt x="3052328" y="0"/>
                </a:cubicBezTo>
                <a:cubicBezTo>
                  <a:pt x="3275732" y="-92332"/>
                  <a:pt x="3547426" y="12581"/>
                  <a:pt x="3874109" y="0"/>
                </a:cubicBezTo>
                <a:cubicBezTo>
                  <a:pt x="4200792" y="-12581"/>
                  <a:pt x="4449773" y="83948"/>
                  <a:pt x="4695890" y="0"/>
                </a:cubicBezTo>
                <a:cubicBezTo>
                  <a:pt x="4942007" y="-83948"/>
                  <a:pt x="5216476" y="24233"/>
                  <a:pt x="5517670" y="0"/>
                </a:cubicBezTo>
                <a:cubicBezTo>
                  <a:pt x="5818864" y="-24233"/>
                  <a:pt x="6081406" y="65630"/>
                  <a:pt x="6339451" y="0"/>
                </a:cubicBezTo>
                <a:cubicBezTo>
                  <a:pt x="6597496" y="-65630"/>
                  <a:pt x="6647390" y="44283"/>
                  <a:pt x="6809040" y="0"/>
                </a:cubicBezTo>
                <a:cubicBezTo>
                  <a:pt x="6970690" y="-44283"/>
                  <a:pt x="7178387" y="2702"/>
                  <a:pt x="7278629" y="0"/>
                </a:cubicBezTo>
                <a:cubicBezTo>
                  <a:pt x="7378871" y="-2702"/>
                  <a:pt x="7530922" y="9283"/>
                  <a:pt x="7630821" y="0"/>
                </a:cubicBezTo>
                <a:cubicBezTo>
                  <a:pt x="7730720" y="-9283"/>
                  <a:pt x="7892293" y="4119"/>
                  <a:pt x="8100410" y="0"/>
                </a:cubicBezTo>
                <a:cubicBezTo>
                  <a:pt x="8308527" y="-4119"/>
                  <a:pt x="8300342" y="6247"/>
                  <a:pt x="8452601" y="0"/>
                </a:cubicBezTo>
                <a:cubicBezTo>
                  <a:pt x="8604860" y="-6247"/>
                  <a:pt x="8680506" y="14420"/>
                  <a:pt x="8804793" y="0"/>
                </a:cubicBezTo>
                <a:cubicBezTo>
                  <a:pt x="8929080" y="-14420"/>
                  <a:pt x="9224365" y="39282"/>
                  <a:pt x="9391779" y="0"/>
                </a:cubicBezTo>
                <a:cubicBezTo>
                  <a:pt x="9559193" y="-39282"/>
                  <a:pt x="9687093" y="22009"/>
                  <a:pt x="9861368" y="0"/>
                </a:cubicBezTo>
                <a:cubicBezTo>
                  <a:pt x="10035643" y="-22009"/>
                  <a:pt x="10338678" y="6044"/>
                  <a:pt x="10565752" y="0"/>
                </a:cubicBezTo>
                <a:cubicBezTo>
                  <a:pt x="10792826" y="-6044"/>
                  <a:pt x="11286786" y="104529"/>
                  <a:pt x="11739724" y="0"/>
                </a:cubicBezTo>
                <a:cubicBezTo>
                  <a:pt x="11782910" y="196258"/>
                  <a:pt x="11701288" y="281262"/>
                  <a:pt x="11739724" y="467615"/>
                </a:cubicBezTo>
                <a:cubicBezTo>
                  <a:pt x="11778160" y="653968"/>
                  <a:pt x="11730934" y="730767"/>
                  <a:pt x="11739724" y="935230"/>
                </a:cubicBezTo>
                <a:cubicBezTo>
                  <a:pt x="11748514" y="1139694"/>
                  <a:pt x="11696965" y="1225144"/>
                  <a:pt x="11739724" y="1323439"/>
                </a:cubicBezTo>
                <a:cubicBezTo>
                  <a:pt x="11426580" y="1391738"/>
                  <a:pt x="11382659" y="1268704"/>
                  <a:pt x="11035341" y="1323439"/>
                </a:cubicBezTo>
                <a:cubicBezTo>
                  <a:pt x="10688023" y="1378174"/>
                  <a:pt x="10789964" y="1279626"/>
                  <a:pt x="10565752" y="1323439"/>
                </a:cubicBezTo>
                <a:cubicBezTo>
                  <a:pt x="10341540" y="1367252"/>
                  <a:pt x="10149319" y="1272404"/>
                  <a:pt x="9978765" y="1323439"/>
                </a:cubicBezTo>
                <a:cubicBezTo>
                  <a:pt x="9808211" y="1374474"/>
                  <a:pt x="9423401" y="1253061"/>
                  <a:pt x="9274382" y="1323439"/>
                </a:cubicBezTo>
                <a:cubicBezTo>
                  <a:pt x="9125363" y="1393817"/>
                  <a:pt x="9034382" y="1314938"/>
                  <a:pt x="8922190" y="1323439"/>
                </a:cubicBezTo>
                <a:cubicBezTo>
                  <a:pt x="8809998" y="1331940"/>
                  <a:pt x="8595318" y="1301753"/>
                  <a:pt x="8335204" y="1323439"/>
                </a:cubicBezTo>
                <a:cubicBezTo>
                  <a:pt x="8075090" y="1345125"/>
                  <a:pt x="7800585" y="1282935"/>
                  <a:pt x="7630821" y="1323439"/>
                </a:cubicBezTo>
                <a:cubicBezTo>
                  <a:pt x="7461057" y="1363943"/>
                  <a:pt x="7133794" y="1254649"/>
                  <a:pt x="6926437" y="1323439"/>
                </a:cubicBezTo>
                <a:cubicBezTo>
                  <a:pt x="6719080" y="1392229"/>
                  <a:pt x="6509591" y="1306891"/>
                  <a:pt x="6339451" y="1323439"/>
                </a:cubicBezTo>
                <a:cubicBezTo>
                  <a:pt x="6169311" y="1339987"/>
                  <a:pt x="6043451" y="1305028"/>
                  <a:pt x="5869862" y="1323439"/>
                </a:cubicBezTo>
                <a:cubicBezTo>
                  <a:pt x="5696273" y="1341850"/>
                  <a:pt x="5480772" y="1299477"/>
                  <a:pt x="5165479" y="1323439"/>
                </a:cubicBezTo>
                <a:cubicBezTo>
                  <a:pt x="4850186" y="1347401"/>
                  <a:pt x="4615035" y="1278865"/>
                  <a:pt x="4461095" y="1323439"/>
                </a:cubicBezTo>
                <a:cubicBezTo>
                  <a:pt x="4307155" y="1368013"/>
                  <a:pt x="4202221" y="1304144"/>
                  <a:pt x="4108903" y="1323439"/>
                </a:cubicBezTo>
                <a:cubicBezTo>
                  <a:pt x="4015585" y="1342734"/>
                  <a:pt x="3555116" y="1293077"/>
                  <a:pt x="3287123" y="1323439"/>
                </a:cubicBezTo>
                <a:cubicBezTo>
                  <a:pt x="3019130" y="1353801"/>
                  <a:pt x="3016631" y="1302491"/>
                  <a:pt x="2934931" y="1323439"/>
                </a:cubicBezTo>
                <a:cubicBezTo>
                  <a:pt x="2853231" y="1344387"/>
                  <a:pt x="2563500" y="1297964"/>
                  <a:pt x="2465342" y="1323439"/>
                </a:cubicBezTo>
                <a:cubicBezTo>
                  <a:pt x="2367184" y="1348914"/>
                  <a:pt x="1979159" y="1318854"/>
                  <a:pt x="1760959" y="1323439"/>
                </a:cubicBezTo>
                <a:cubicBezTo>
                  <a:pt x="1542759" y="1328024"/>
                  <a:pt x="1549804" y="1320582"/>
                  <a:pt x="1408767" y="1323439"/>
                </a:cubicBezTo>
                <a:cubicBezTo>
                  <a:pt x="1267730" y="1326296"/>
                  <a:pt x="928828" y="1307247"/>
                  <a:pt x="586986" y="1323439"/>
                </a:cubicBezTo>
                <a:cubicBezTo>
                  <a:pt x="245144" y="1339631"/>
                  <a:pt x="227882" y="1310698"/>
                  <a:pt x="0" y="1323439"/>
                </a:cubicBezTo>
                <a:cubicBezTo>
                  <a:pt x="-39199" y="1215762"/>
                  <a:pt x="15612" y="1024974"/>
                  <a:pt x="0" y="921996"/>
                </a:cubicBezTo>
                <a:cubicBezTo>
                  <a:pt x="-15612" y="819018"/>
                  <a:pt x="33889" y="570226"/>
                  <a:pt x="0" y="480850"/>
                </a:cubicBezTo>
                <a:cubicBezTo>
                  <a:pt x="-33889" y="391474"/>
                  <a:pt x="52388" y="123186"/>
                  <a:pt x="0" y="0"/>
                </a:cubicBezTo>
                <a:close/>
              </a:path>
              <a:path w="11739724" h="1323439" stroke="0" extrusionOk="0">
                <a:moveTo>
                  <a:pt x="0" y="0"/>
                </a:moveTo>
                <a:cubicBezTo>
                  <a:pt x="53811" y="-26155"/>
                  <a:pt x="148293" y="13671"/>
                  <a:pt x="234794" y="0"/>
                </a:cubicBezTo>
                <a:cubicBezTo>
                  <a:pt x="321295" y="-13671"/>
                  <a:pt x="538428" y="16598"/>
                  <a:pt x="821781" y="0"/>
                </a:cubicBezTo>
                <a:cubicBezTo>
                  <a:pt x="1105134" y="-16598"/>
                  <a:pt x="1027450" y="4359"/>
                  <a:pt x="1173972" y="0"/>
                </a:cubicBezTo>
                <a:cubicBezTo>
                  <a:pt x="1320494" y="-4359"/>
                  <a:pt x="1325486" y="9801"/>
                  <a:pt x="1408767" y="0"/>
                </a:cubicBezTo>
                <a:cubicBezTo>
                  <a:pt x="1492049" y="-9801"/>
                  <a:pt x="1825620" y="2238"/>
                  <a:pt x="2113150" y="0"/>
                </a:cubicBezTo>
                <a:cubicBezTo>
                  <a:pt x="2400680" y="-2238"/>
                  <a:pt x="2658029" y="30109"/>
                  <a:pt x="2934931" y="0"/>
                </a:cubicBezTo>
                <a:cubicBezTo>
                  <a:pt x="3211833" y="-30109"/>
                  <a:pt x="3191957" y="15380"/>
                  <a:pt x="3287123" y="0"/>
                </a:cubicBezTo>
                <a:cubicBezTo>
                  <a:pt x="3382289" y="-15380"/>
                  <a:pt x="3828674" y="4064"/>
                  <a:pt x="3991506" y="0"/>
                </a:cubicBezTo>
                <a:cubicBezTo>
                  <a:pt x="4154338" y="-4064"/>
                  <a:pt x="4259371" y="40202"/>
                  <a:pt x="4343698" y="0"/>
                </a:cubicBezTo>
                <a:cubicBezTo>
                  <a:pt x="4428025" y="-40202"/>
                  <a:pt x="4847384" y="11785"/>
                  <a:pt x="5048081" y="0"/>
                </a:cubicBezTo>
                <a:cubicBezTo>
                  <a:pt x="5248778" y="-11785"/>
                  <a:pt x="5328124" y="22904"/>
                  <a:pt x="5517670" y="0"/>
                </a:cubicBezTo>
                <a:cubicBezTo>
                  <a:pt x="5707216" y="-22904"/>
                  <a:pt x="5885129" y="43602"/>
                  <a:pt x="5987259" y="0"/>
                </a:cubicBezTo>
                <a:cubicBezTo>
                  <a:pt x="6089389" y="-43602"/>
                  <a:pt x="6497562" y="21069"/>
                  <a:pt x="6809040" y="0"/>
                </a:cubicBezTo>
                <a:cubicBezTo>
                  <a:pt x="7120518" y="-21069"/>
                  <a:pt x="7003605" y="8445"/>
                  <a:pt x="7161232" y="0"/>
                </a:cubicBezTo>
                <a:cubicBezTo>
                  <a:pt x="7318859" y="-8445"/>
                  <a:pt x="7361418" y="2732"/>
                  <a:pt x="7513423" y="0"/>
                </a:cubicBezTo>
                <a:cubicBezTo>
                  <a:pt x="7665428" y="-2732"/>
                  <a:pt x="7806133" y="49537"/>
                  <a:pt x="7983012" y="0"/>
                </a:cubicBezTo>
                <a:cubicBezTo>
                  <a:pt x="8159891" y="-49537"/>
                  <a:pt x="8378261" y="70124"/>
                  <a:pt x="8569999" y="0"/>
                </a:cubicBezTo>
                <a:cubicBezTo>
                  <a:pt x="8761737" y="-70124"/>
                  <a:pt x="9214319" y="50484"/>
                  <a:pt x="9391779" y="0"/>
                </a:cubicBezTo>
                <a:cubicBezTo>
                  <a:pt x="9569239" y="-50484"/>
                  <a:pt x="10032805" y="14218"/>
                  <a:pt x="10213560" y="0"/>
                </a:cubicBezTo>
                <a:cubicBezTo>
                  <a:pt x="10394315" y="-14218"/>
                  <a:pt x="10625223" y="26308"/>
                  <a:pt x="10800546" y="0"/>
                </a:cubicBezTo>
                <a:cubicBezTo>
                  <a:pt x="10975869" y="-26308"/>
                  <a:pt x="11482215" y="19801"/>
                  <a:pt x="11739724" y="0"/>
                </a:cubicBezTo>
                <a:cubicBezTo>
                  <a:pt x="11768976" y="93949"/>
                  <a:pt x="11721094" y="220278"/>
                  <a:pt x="11739724" y="414678"/>
                </a:cubicBezTo>
                <a:cubicBezTo>
                  <a:pt x="11758354" y="609078"/>
                  <a:pt x="11717215" y="730359"/>
                  <a:pt x="11739724" y="855824"/>
                </a:cubicBezTo>
                <a:cubicBezTo>
                  <a:pt x="11762233" y="981289"/>
                  <a:pt x="11691098" y="1185227"/>
                  <a:pt x="11739724" y="1323439"/>
                </a:cubicBezTo>
                <a:cubicBezTo>
                  <a:pt x="11671682" y="1325115"/>
                  <a:pt x="11620855" y="1314559"/>
                  <a:pt x="11504930" y="1323439"/>
                </a:cubicBezTo>
                <a:cubicBezTo>
                  <a:pt x="11389005" y="1332319"/>
                  <a:pt x="11064795" y="1256731"/>
                  <a:pt x="10917943" y="1323439"/>
                </a:cubicBezTo>
                <a:cubicBezTo>
                  <a:pt x="10771091" y="1390147"/>
                  <a:pt x="10495314" y="1257885"/>
                  <a:pt x="10213560" y="1323439"/>
                </a:cubicBezTo>
                <a:cubicBezTo>
                  <a:pt x="9931806" y="1388993"/>
                  <a:pt x="9856026" y="1322295"/>
                  <a:pt x="9509176" y="1323439"/>
                </a:cubicBezTo>
                <a:cubicBezTo>
                  <a:pt x="9162326" y="1324583"/>
                  <a:pt x="8912243" y="1305744"/>
                  <a:pt x="8687396" y="1323439"/>
                </a:cubicBezTo>
                <a:cubicBezTo>
                  <a:pt x="8462549" y="1341134"/>
                  <a:pt x="8531970" y="1300594"/>
                  <a:pt x="8452601" y="1323439"/>
                </a:cubicBezTo>
                <a:cubicBezTo>
                  <a:pt x="8373232" y="1346284"/>
                  <a:pt x="7994352" y="1278799"/>
                  <a:pt x="7865615" y="1323439"/>
                </a:cubicBezTo>
                <a:cubicBezTo>
                  <a:pt x="7736878" y="1368079"/>
                  <a:pt x="7491155" y="1296654"/>
                  <a:pt x="7161232" y="1323439"/>
                </a:cubicBezTo>
                <a:cubicBezTo>
                  <a:pt x="6831309" y="1350224"/>
                  <a:pt x="6981135" y="1303827"/>
                  <a:pt x="6926437" y="1323439"/>
                </a:cubicBezTo>
                <a:cubicBezTo>
                  <a:pt x="6871739" y="1343051"/>
                  <a:pt x="6721876" y="1317976"/>
                  <a:pt x="6574245" y="1323439"/>
                </a:cubicBezTo>
                <a:cubicBezTo>
                  <a:pt x="6426614" y="1328902"/>
                  <a:pt x="6155503" y="1284428"/>
                  <a:pt x="5869862" y="1323439"/>
                </a:cubicBezTo>
                <a:cubicBezTo>
                  <a:pt x="5584221" y="1362450"/>
                  <a:pt x="5701065" y="1323289"/>
                  <a:pt x="5635068" y="1323439"/>
                </a:cubicBezTo>
                <a:cubicBezTo>
                  <a:pt x="5569071" y="1323589"/>
                  <a:pt x="5178189" y="1263695"/>
                  <a:pt x="4930684" y="1323439"/>
                </a:cubicBezTo>
                <a:cubicBezTo>
                  <a:pt x="4683179" y="1383183"/>
                  <a:pt x="4637371" y="1280481"/>
                  <a:pt x="4461095" y="1323439"/>
                </a:cubicBezTo>
                <a:cubicBezTo>
                  <a:pt x="4284819" y="1366397"/>
                  <a:pt x="4328888" y="1311481"/>
                  <a:pt x="4226301" y="1323439"/>
                </a:cubicBezTo>
                <a:cubicBezTo>
                  <a:pt x="4123714" y="1335397"/>
                  <a:pt x="3708334" y="1247931"/>
                  <a:pt x="3521917" y="1323439"/>
                </a:cubicBezTo>
                <a:cubicBezTo>
                  <a:pt x="3335500" y="1398947"/>
                  <a:pt x="3404189" y="1312195"/>
                  <a:pt x="3287123" y="1323439"/>
                </a:cubicBezTo>
                <a:cubicBezTo>
                  <a:pt x="3170057" y="1334683"/>
                  <a:pt x="2992477" y="1295268"/>
                  <a:pt x="2817534" y="1323439"/>
                </a:cubicBezTo>
                <a:cubicBezTo>
                  <a:pt x="2642591" y="1351610"/>
                  <a:pt x="2501469" y="1308376"/>
                  <a:pt x="2347945" y="1323439"/>
                </a:cubicBezTo>
                <a:cubicBezTo>
                  <a:pt x="2194421" y="1338502"/>
                  <a:pt x="2073759" y="1297465"/>
                  <a:pt x="1995753" y="1323439"/>
                </a:cubicBezTo>
                <a:cubicBezTo>
                  <a:pt x="1917747" y="1349413"/>
                  <a:pt x="1845842" y="1305422"/>
                  <a:pt x="1760959" y="1323439"/>
                </a:cubicBezTo>
                <a:cubicBezTo>
                  <a:pt x="1676076" y="1341456"/>
                  <a:pt x="1397018" y="1297935"/>
                  <a:pt x="1291370" y="1323439"/>
                </a:cubicBezTo>
                <a:cubicBezTo>
                  <a:pt x="1185722" y="1348943"/>
                  <a:pt x="1134376" y="1301060"/>
                  <a:pt x="1056575" y="1323439"/>
                </a:cubicBezTo>
                <a:cubicBezTo>
                  <a:pt x="978775" y="1345818"/>
                  <a:pt x="937779" y="1296522"/>
                  <a:pt x="821781" y="1323439"/>
                </a:cubicBezTo>
                <a:cubicBezTo>
                  <a:pt x="705783" y="1350356"/>
                  <a:pt x="230101" y="1232020"/>
                  <a:pt x="0" y="1323439"/>
                </a:cubicBezTo>
                <a:cubicBezTo>
                  <a:pt x="-32499" y="1190455"/>
                  <a:pt x="32799" y="1121416"/>
                  <a:pt x="0" y="921996"/>
                </a:cubicBezTo>
                <a:cubicBezTo>
                  <a:pt x="-32799" y="722576"/>
                  <a:pt x="1296" y="636037"/>
                  <a:pt x="0" y="520553"/>
                </a:cubicBezTo>
                <a:cubicBezTo>
                  <a:pt x="-1296" y="405069"/>
                  <a:pt x="61731" y="247916"/>
                  <a:pt x="0" y="0"/>
                </a:cubicBezTo>
                <a:close/>
              </a:path>
            </a:pathLst>
          </a:custGeom>
          <a:solidFill>
            <a:srgbClr val="1A86A9"/>
          </a:solidFill>
          <a:ln w="38100">
            <a:solidFill>
              <a:schemeClr val="tx1"/>
            </a:solidFill>
            <a:extLst>
              <a:ext uri="{C807C97D-BFC1-408E-A445-0C87EB9F89A2}">
                <ask:lineSketchStyleProps xmlns:ask="http://schemas.microsoft.com/office/drawing/2018/sketchyshapes" sd="3301333075">
                  <a:prstGeom prst="rect">
                    <a:avLst/>
                  </a:prstGeom>
                  <ask:type>
                    <ask:lineSketchScribble/>
                  </ask:type>
                </ask:lineSketchStyleProps>
              </a:ext>
            </a:extLst>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kumimoji="0" lang="en-US" altLang="en-US" sz="2000" b="0" i="0" u="none" strike="noStrike" cap="none" normalizeH="0" baseline="0" dirty="0">
                <a:ln>
                  <a:noFill/>
                </a:ln>
                <a:solidFill>
                  <a:schemeClr val="tx1"/>
                </a:solidFill>
                <a:effectLst/>
                <a:latin typeface="Britannic Bold" panose="020B0903060703020204" pitchFamily="34" charset="0"/>
              </a:rPr>
              <a:t>Manual monitoring of fishermen near maritime borders is inefficient, prone to errors, and lacks real-time enforcement, leading to accidental border crossings and security risks. There is a need for an automated GPS-based tracking system using LoRa to detect, alert, and prevent violations, ensuring safety, compliance, and efficient maritime boundary management.</a:t>
            </a:r>
            <a:r>
              <a:rPr lang="en-US" altLang="en-US" dirty="0">
                <a:latin typeface="Britannic Bold" panose="020B0903060703020204" pitchFamily="34" charset="0"/>
              </a:rPr>
              <a:t> </a:t>
            </a:r>
            <a:endParaRPr kumimoji="0" lang="en-US" altLang="en-US" sz="1800" b="0" i="0" u="none" strike="noStrike" cap="none" normalizeH="0" baseline="0" dirty="0">
              <a:ln>
                <a:noFill/>
              </a:ln>
              <a:solidFill>
                <a:schemeClr val="tx1"/>
              </a:solidFill>
              <a:effectLst/>
              <a:latin typeface="Britannic Bold" panose="020B0903060703020204" pitchFamily="34" charset="0"/>
            </a:endParaRPr>
          </a:p>
        </p:txBody>
      </p:sp>
      <p:sp>
        <p:nvSpPr>
          <p:cNvPr id="9" name="Rectangle 4">
            <a:extLst>
              <a:ext uri="{FF2B5EF4-FFF2-40B4-BE49-F238E27FC236}">
                <a16:creationId xmlns:a16="http://schemas.microsoft.com/office/drawing/2014/main" id="{89C3362B-21A9-7A1F-97B4-AAEC690772CC}"/>
              </a:ext>
            </a:extLst>
          </p:cNvPr>
          <p:cNvSpPr>
            <a:spLocks noChangeArrowheads="1"/>
          </p:cNvSpPr>
          <p:nvPr/>
        </p:nvSpPr>
        <p:spPr bwMode="auto">
          <a:xfrm>
            <a:off x="353959" y="2988720"/>
            <a:ext cx="4119718" cy="3477875"/>
          </a:xfrm>
          <a:custGeom>
            <a:avLst/>
            <a:gdLst>
              <a:gd name="connsiteX0" fmla="*/ 0 w 4119718"/>
              <a:gd name="connsiteY0" fmla="*/ 0 h 3477875"/>
              <a:gd name="connsiteX1" fmla="*/ 506137 w 4119718"/>
              <a:gd name="connsiteY1" fmla="*/ 0 h 3477875"/>
              <a:gd name="connsiteX2" fmla="*/ 1135865 w 4119718"/>
              <a:gd name="connsiteY2" fmla="*/ 0 h 3477875"/>
              <a:gd name="connsiteX3" fmla="*/ 1765593 w 4119718"/>
              <a:gd name="connsiteY3" fmla="*/ 0 h 3477875"/>
              <a:gd name="connsiteX4" fmla="*/ 2436519 w 4119718"/>
              <a:gd name="connsiteY4" fmla="*/ 0 h 3477875"/>
              <a:gd name="connsiteX5" fmla="*/ 2901459 w 4119718"/>
              <a:gd name="connsiteY5" fmla="*/ 0 h 3477875"/>
              <a:gd name="connsiteX6" fmla="*/ 3489990 w 4119718"/>
              <a:gd name="connsiteY6" fmla="*/ 0 h 3477875"/>
              <a:gd name="connsiteX7" fmla="*/ 4119718 w 4119718"/>
              <a:gd name="connsiteY7" fmla="*/ 0 h 3477875"/>
              <a:gd name="connsiteX8" fmla="*/ 4119718 w 4119718"/>
              <a:gd name="connsiteY8" fmla="*/ 544867 h 3477875"/>
              <a:gd name="connsiteX9" fmla="*/ 4119718 w 4119718"/>
              <a:gd name="connsiteY9" fmla="*/ 1194070 h 3477875"/>
              <a:gd name="connsiteX10" fmla="*/ 4119718 w 4119718"/>
              <a:gd name="connsiteY10" fmla="*/ 1773716 h 3477875"/>
              <a:gd name="connsiteX11" fmla="*/ 4119718 w 4119718"/>
              <a:gd name="connsiteY11" fmla="*/ 2353362 h 3477875"/>
              <a:gd name="connsiteX12" fmla="*/ 4119718 w 4119718"/>
              <a:gd name="connsiteY12" fmla="*/ 3477875 h 3477875"/>
              <a:gd name="connsiteX13" fmla="*/ 3572384 w 4119718"/>
              <a:gd name="connsiteY13" fmla="*/ 3477875 h 3477875"/>
              <a:gd name="connsiteX14" fmla="*/ 3066247 w 4119718"/>
              <a:gd name="connsiteY14" fmla="*/ 3477875 h 3477875"/>
              <a:gd name="connsiteX15" fmla="*/ 2395322 w 4119718"/>
              <a:gd name="connsiteY15" fmla="*/ 3477875 h 3477875"/>
              <a:gd name="connsiteX16" fmla="*/ 1847988 w 4119718"/>
              <a:gd name="connsiteY16" fmla="*/ 3477875 h 3477875"/>
              <a:gd name="connsiteX17" fmla="*/ 1383048 w 4119718"/>
              <a:gd name="connsiteY17" fmla="*/ 3477875 h 3477875"/>
              <a:gd name="connsiteX18" fmla="*/ 753320 w 4119718"/>
              <a:gd name="connsiteY18" fmla="*/ 3477875 h 3477875"/>
              <a:gd name="connsiteX19" fmla="*/ 0 w 4119718"/>
              <a:gd name="connsiteY19" fmla="*/ 3477875 h 3477875"/>
              <a:gd name="connsiteX20" fmla="*/ 0 w 4119718"/>
              <a:gd name="connsiteY20" fmla="*/ 2828672 h 3477875"/>
              <a:gd name="connsiteX21" fmla="*/ 0 w 4119718"/>
              <a:gd name="connsiteY21" fmla="*/ 2318583 h 3477875"/>
              <a:gd name="connsiteX22" fmla="*/ 0 w 4119718"/>
              <a:gd name="connsiteY22" fmla="*/ 1738938 h 3477875"/>
              <a:gd name="connsiteX23" fmla="*/ 0 w 4119718"/>
              <a:gd name="connsiteY23" fmla="*/ 1124513 h 3477875"/>
              <a:gd name="connsiteX24" fmla="*/ 0 w 4119718"/>
              <a:gd name="connsiteY24" fmla="*/ 510088 h 3477875"/>
              <a:gd name="connsiteX25" fmla="*/ 0 w 4119718"/>
              <a:gd name="connsiteY25" fmla="*/ 0 h 347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119718" h="3477875" fill="none" extrusionOk="0">
                <a:moveTo>
                  <a:pt x="0" y="0"/>
                </a:moveTo>
                <a:cubicBezTo>
                  <a:pt x="140977" y="-14458"/>
                  <a:pt x="299925" y="15379"/>
                  <a:pt x="506137" y="0"/>
                </a:cubicBezTo>
                <a:cubicBezTo>
                  <a:pt x="712349" y="-15379"/>
                  <a:pt x="830756" y="11915"/>
                  <a:pt x="1135865" y="0"/>
                </a:cubicBezTo>
                <a:cubicBezTo>
                  <a:pt x="1440974" y="-11915"/>
                  <a:pt x="1624383" y="62239"/>
                  <a:pt x="1765593" y="0"/>
                </a:cubicBezTo>
                <a:cubicBezTo>
                  <a:pt x="1906803" y="-62239"/>
                  <a:pt x="2237306" y="34406"/>
                  <a:pt x="2436519" y="0"/>
                </a:cubicBezTo>
                <a:cubicBezTo>
                  <a:pt x="2635732" y="-34406"/>
                  <a:pt x="2676331" y="12704"/>
                  <a:pt x="2901459" y="0"/>
                </a:cubicBezTo>
                <a:cubicBezTo>
                  <a:pt x="3126587" y="-12704"/>
                  <a:pt x="3298138" y="8993"/>
                  <a:pt x="3489990" y="0"/>
                </a:cubicBezTo>
                <a:cubicBezTo>
                  <a:pt x="3681842" y="-8993"/>
                  <a:pt x="3834358" y="71575"/>
                  <a:pt x="4119718" y="0"/>
                </a:cubicBezTo>
                <a:cubicBezTo>
                  <a:pt x="4166508" y="231065"/>
                  <a:pt x="4102258" y="427595"/>
                  <a:pt x="4119718" y="544867"/>
                </a:cubicBezTo>
                <a:cubicBezTo>
                  <a:pt x="4137178" y="662139"/>
                  <a:pt x="4100689" y="927716"/>
                  <a:pt x="4119718" y="1194070"/>
                </a:cubicBezTo>
                <a:cubicBezTo>
                  <a:pt x="4138747" y="1460424"/>
                  <a:pt x="4103548" y="1561392"/>
                  <a:pt x="4119718" y="1773716"/>
                </a:cubicBezTo>
                <a:cubicBezTo>
                  <a:pt x="4135888" y="1986040"/>
                  <a:pt x="4090377" y="2077509"/>
                  <a:pt x="4119718" y="2353362"/>
                </a:cubicBezTo>
                <a:cubicBezTo>
                  <a:pt x="4149059" y="2629215"/>
                  <a:pt x="4049040" y="3178091"/>
                  <a:pt x="4119718" y="3477875"/>
                </a:cubicBezTo>
                <a:cubicBezTo>
                  <a:pt x="3882152" y="3509164"/>
                  <a:pt x="3823820" y="3446308"/>
                  <a:pt x="3572384" y="3477875"/>
                </a:cubicBezTo>
                <a:cubicBezTo>
                  <a:pt x="3320948" y="3509442"/>
                  <a:pt x="3286449" y="3435243"/>
                  <a:pt x="3066247" y="3477875"/>
                </a:cubicBezTo>
                <a:cubicBezTo>
                  <a:pt x="2846045" y="3520507"/>
                  <a:pt x="2570425" y="3416893"/>
                  <a:pt x="2395322" y="3477875"/>
                </a:cubicBezTo>
                <a:cubicBezTo>
                  <a:pt x="2220219" y="3538857"/>
                  <a:pt x="2100809" y="3455910"/>
                  <a:pt x="1847988" y="3477875"/>
                </a:cubicBezTo>
                <a:cubicBezTo>
                  <a:pt x="1595167" y="3499840"/>
                  <a:pt x="1606715" y="3432516"/>
                  <a:pt x="1383048" y="3477875"/>
                </a:cubicBezTo>
                <a:cubicBezTo>
                  <a:pt x="1159381" y="3523234"/>
                  <a:pt x="1003296" y="3423799"/>
                  <a:pt x="753320" y="3477875"/>
                </a:cubicBezTo>
                <a:cubicBezTo>
                  <a:pt x="503344" y="3531951"/>
                  <a:pt x="291890" y="3396997"/>
                  <a:pt x="0" y="3477875"/>
                </a:cubicBezTo>
                <a:cubicBezTo>
                  <a:pt x="-58899" y="3268757"/>
                  <a:pt x="18676" y="3010426"/>
                  <a:pt x="0" y="2828672"/>
                </a:cubicBezTo>
                <a:cubicBezTo>
                  <a:pt x="-18676" y="2646918"/>
                  <a:pt x="29147" y="2487362"/>
                  <a:pt x="0" y="2318583"/>
                </a:cubicBezTo>
                <a:cubicBezTo>
                  <a:pt x="-29147" y="2149804"/>
                  <a:pt x="1119" y="1994385"/>
                  <a:pt x="0" y="1738938"/>
                </a:cubicBezTo>
                <a:cubicBezTo>
                  <a:pt x="-1119" y="1483492"/>
                  <a:pt x="31003" y="1332725"/>
                  <a:pt x="0" y="1124513"/>
                </a:cubicBezTo>
                <a:cubicBezTo>
                  <a:pt x="-31003" y="916301"/>
                  <a:pt x="6456" y="733475"/>
                  <a:pt x="0" y="510088"/>
                </a:cubicBezTo>
                <a:cubicBezTo>
                  <a:pt x="-6456" y="286702"/>
                  <a:pt x="1057" y="175943"/>
                  <a:pt x="0" y="0"/>
                </a:cubicBezTo>
                <a:close/>
              </a:path>
              <a:path w="4119718" h="3477875" stroke="0" extrusionOk="0">
                <a:moveTo>
                  <a:pt x="0" y="0"/>
                </a:moveTo>
                <a:cubicBezTo>
                  <a:pt x="147543" y="-276"/>
                  <a:pt x="392896" y="30650"/>
                  <a:pt x="506137" y="0"/>
                </a:cubicBezTo>
                <a:cubicBezTo>
                  <a:pt x="619378" y="-30650"/>
                  <a:pt x="761923" y="46893"/>
                  <a:pt x="971076" y="0"/>
                </a:cubicBezTo>
                <a:cubicBezTo>
                  <a:pt x="1180229" y="-46893"/>
                  <a:pt x="1342267" y="54463"/>
                  <a:pt x="1477213" y="0"/>
                </a:cubicBezTo>
                <a:cubicBezTo>
                  <a:pt x="1612159" y="-54463"/>
                  <a:pt x="1845403" y="30128"/>
                  <a:pt x="1983350" y="0"/>
                </a:cubicBezTo>
                <a:cubicBezTo>
                  <a:pt x="2121297" y="-30128"/>
                  <a:pt x="2480591" y="30253"/>
                  <a:pt x="2613078" y="0"/>
                </a:cubicBezTo>
                <a:cubicBezTo>
                  <a:pt x="2745565" y="-30253"/>
                  <a:pt x="3009092" y="5105"/>
                  <a:pt x="3119215" y="0"/>
                </a:cubicBezTo>
                <a:cubicBezTo>
                  <a:pt x="3229338" y="-5105"/>
                  <a:pt x="3795935" y="106899"/>
                  <a:pt x="4119718" y="0"/>
                </a:cubicBezTo>
                <a:cubicBezTo>
                  <a:pt x="4131427" y="163987"/>
                  <a:pt x="4110857" y="308423"/>
                  <a:pt x="4119718" y="614425"/>
                </a:cubicBezTo>
                <a:cubicBezTo>
                  <a:pt x="4128579" y="920428"/>
                  <a:pt x="4080766" y="989524"/>
                  <a:pt x="4119718" y="1124513"/>
                </a:cubicBezTo>
                <a:cubicBezTo>
                  <a:pt x="4158670" y="1259502"/>
                  <a:pt x="4082233" y="1459941"/>
                  <a:pt x="4119718" y="1634601"/>
                </a:cubicBezTo>
                <a:cubicBezTo>
                  <a:pt x="4157203" y="1809261"/>
                  <a:pt x="4075576" y="1967277"/>
                  <a:pt x="4119718" y="2179468"/>
                </a:cubicBezTo>
                <a:cubicBezTo>
                  <a:pt x="4163860" y="2391659"/>
                  <a:pt x="4076208" y="2525653"/>
                  <a:pt x="4119718" y="2759114"/>
                </a:cubicBezTo>
                <a:cubicBezTo>
                  <a:pt x="4163228" y="2992575"/>
                  <a:pt x="4078534" y="3124241"/>
                  <a:pt x="4119718" y="3477875"/>
                </a:cubicBezTo>
                <a:cubicBezTo>
                  <a:pt x="3937702" y="3497763"/>
                  <a:pt x="3837316" y="3473417"/>
                  <a:pt x="3572384" y="3477875"/>
                </a:cubicBezTo>
                <a:cubicBezTo>
                  <a:pt x="3307452" y="3482333"/>
                  <a:pt x="3288016" y="3427692"/>
                  <a:pt x="3066247" y="3477875"/>
                </a:cubicBezTo>
                <a:cubicBezTo>
                  <a:pt x="2844478" y="3528058"/>
                  <a:pt x="2772966" y="3463418"/>
                  <a:pt x="2601308" y="3477875"/>
                </a:cubicBezTo>
                <a:cubicBezTo>
                  <a:pt x="2429650" y="3492332"/>
                  <a:pt x="2223916" y="3475872"/>
                  <a:pt x="1930382" y="3477875"/>
                </a:cubicBezTo>
                <a:cubicBezTo>
                  <a:pt x="1636848" y="3479878"/>
                  <a:pt x="1604949" y="3450228"/>
                  <a:pt x="1424245" y="3477875"/>
                </a:cubicBezTo>
                <a:cubicBezTo>
                  <a:pt x="1243541" y="3505522"/>
                  <a:pt x="1002570" y="3468866"/>
                  <a:pt x="794517" y="3477875"/>
                </a:cubicBezTo>
                <a:cubicBezTo>
                  <a:pt x="586464" y="3486884"/>
                  <a:pt x="379686" y="3434074"/>
                  <a:pt x="0" y="3477875"/>
                </a:cubicBezTo>
                <a:cubicBezTo>
                  <a:pt x="-28998" y="3292559"/>
                  <a:pt x="33932" y="3042380"/>
                  <a:pt x="0" y="2863450"/>
                </a:cubicBezTo>
                <a:cubicBezTo>
                  <a:pt x="-33932" y="2684521"/>
                  <a:pt x="44106" y="2615490"/>
                  <a:pt x="0" y="2388141"/>
                </a:cubicBezTo>
                <a:cubicBezTo>
                  <a:pt x="-44106" y="2160792"/>
                  <a:pt x="54869" y="1978550"/>
                  <a:pt x="0" y="1773716"/>
                </a:cubicBezTo>
                <a:cubicBezTo>
                  <a:pt x="-54869" y="1568883"/>
                  <a:pt x="66151" y="1464473"/>
                  <a:pt x="0" y="1159292"/>
                </a:cubicBezTo>
                <a:cubicBezTo>
                  <a:pt x="-66151" y="854111"/>
                  <a:pt x="52688" y="815717"/>
                  <a:pt x="0" y="579646"/>
                </a:cubicBezTo>
                <a:cubicBezTo>
                  <a:pt x="-52688" y="343575"/>
                  <a:pt x="16258" y="166623"/>
                  <a:pt x="0" y="0"/>
                </a:cubicBezTo>
                <a:close/>
              </a:path>
            </a:pathLst>
          </a:custGeom>
          <a:solidFill>
            <a:srgbClr val="1A86A9"/>
          </a:solidFill>
          <a:ln w="38100">
            <a:solidFill>
              <a:schemeClr val="tx1"/>
            </a:solidFill>
            <a:extLst>
              <a:ext uri="{C807C97D-BFC1-408E-A445-0C87EB9F89A2}">
                <ask:lineSketchStyleProps xmlns:ask="http://schemas.microsoft.com/office/drawing/2018/sketchyshapes" sd="1623040209">
                  <a:prstGeom prst="rect">
                    <a:avLst/>
                  </a:prstGeom>
                  <ask:type>
                    <ask:lineSketchScribble/>
                  </ask:type>
                </ask:lineSketchStyleProps>
              </a:ext>
            </a:extLst>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Britannic Bold" panose="020B0903060703020204" pitchFamily="34" charset="0"/>
              </a:rPr>
              <a:t>Accidental Border Crossings &amp; Security Risks</a:t>
            </a:r>
            <a:endParaRPr kumimoji="0" lang="en-US" altLang="en-US" sz="2000" b="0" i="0" u="none" strike="noStrike" cap="none" normalizeH="0" baseline="0" dirty="0">
              <a:ln>
                <a:noFill/>
              </a:ln>
              <a:solidFill>
                <a:schemeClr val="tx1"/>
              </a:solidFill>
              <a:effectLst/>
              <a:latin typeface="Britannic Bold" panose="020B0903060703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Britannic Bold" panose="020B0903060703020204" pitchFamily="34" charset="0"/>
              </a:rPr>
              <a:t>Limited Real-Time Monitoring</a:t>
            </a:r>
            <a:endParaRPr kumimoji="0" lang="en-US" altLang="en-US" sz="2000" b="0" i="0" u="none" strike="noStrike" cap="none" normalizeH="0" baseline="0" dirty="0">
              <a:ln>
                <a:noFill/>
              </a:ln>
              <a:solidFill>
                <a:schemeClr val="tx1"/>
              </a:solidFill>
              <a:effectLst/>
              <a:latin typeface="Britannic Bold" panose="020B0903060703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Britannic Bold" panose="020B0903060703020204" pitchFamily="34" charset="0"/>
              </a:rPr>
              <a:t>Communication Gaps in Offshore Areas</a:t>
            </a:r>
            <a:endParaRPr kumimoji="0" lang="en-US" altLang="en-US" sz="2000" b="0" i="0" u="none" strike="noStrike" cap="none" normalizeH="0" baseline="0" dirty="0">
              <a:ln>
                <a:noFill/>
              </a:ln>
              <a:solidFill>
                <a:schemeClr val="tx1"/>
              </a:solidFill>
              <a:effectLst/>
              <a:latin typeface="Britannic Bold" panose="020B0903060703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Britannic Bold" panose="020B0903060703020204" pitchFamily="34" charset="0"/>
              </a:rPr>
              <a:t>Ineffective Manual Tracking</a:t>
            </a:r>
            <a:endParaRPr kumimoji="0" lang="en-US" altLang="en-US" sz="2000" b="0" i="0" u="none" strike="noStrike" cap="none" normalizeH="0" baseline="0" dirty="0">
              <a:ln>
                <a:noFill/>
              </a:ln>
              <a:solidFill>
                <a:schemeClr val="tx1"/>
              </a:solidFill>
              <a:effectLst/>
              <a:latin typeface="Britannic Bold" panose="020B0903060703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Britannic Bold" panose="020B0903060703020204" pitchFamily="34" charset="0"/>
              </a:rPr>
              <a:t>Lack of Automated Alerts</a:t>
            </a:r>
            <a:endParaRPr kumimoji="0" lang="en-US" altLang="en-US" sz="2000" b="0" i="0" u="none" strike="noStrike" cap="none" normalizeH="0" baseline="0" dirty="0">
              <a:ln>
                <a:noFill/>
              </a:ln>
              <a:solidFill>
                <a:schemeClr val="tx1"/>
              </a:solidFill>
              <a:effectLst/>
              <a:latin typeface="Britannic Bold" panose="020B0903060703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Britannic Bold" panose="020B0903060703020204" pitchFamily="34" charset="0"/>
              </a:rPr>
              <a:t>Legal &amp; Diplomatic Conflicts</a:t>
            </a:r>
            <a:endParaRPr kumimoji="0" lang="en-US" altLang="en-US" sz="2000" b="0" i="0" u="none" strike="noStrike" cap="none" normalizeH="0" baseline="0" dirty="0">
              <a:ln>
                <a:noFill/>
              </a:ln>
              <a:solidFill>
                <a:schemeClr val="tx1"/>
              </a:solidFill>
              <a:effectLst/>
              <a:latin typeface="Britannic Bold" panose="020B0903060703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Britannic Bold" panose="020B0903060703020204" pitchFamily="34" charset="0"/>
              </a:rPr>
              <a:t>Safety Risks for Fishermen</a:t>
            </a:r>
            <a:endParaRPr kumimoji="0" lang="en-US" altLang="en-US" sz="2000" b="0" i="0" u="none" strike="noStrike" cap="none" normalizeH="0" baseline="0" dirty="0">
              <a:ln>
                <a:noFill/>
              </a:ln>
              <a:solidFill>
                <a:schemeClr val="tx1"/>
              </a:solidFill>
              <a:effectLst/>
              <a:latin typeface="Britannic Bold" panose="020B0903060703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Britannic Bold" panose="020B0903060703020204" pitchFamily="34" charset="0"/>
              </a:rPr>
              <a:t>Absence of Data-Driven Decision Making</a:t>
            </a:r>
            <a:endParaRPr kumimoji="0" lang="en-US" altLang="en-US" sz="2000" b="0" i="0" u="none" strike="noStrike" cap="none" normalizeH="0" baseline="0" dirty="0">
              <a:ln>
                <a:noFill/>
              </a:ln>
              <a:solidFill>
                <a:schemeClr val="tx1"/>
              </a:solidFill>
              <a:effectLst/>
              <a:latin typeface="Britannic Bold" panose="020B0903060703020204" pitchFamily="34" charset="0"/>
            </a:endParaRPr>
          </a:p>
        </p:txBody>
      </p:sp>
      <p:sp>
        <p:nvSpPr>
          <p:cNvPr id="11" name="TextBox 10">
            <a:extLst>
              <a:ext uri="{FF2B5EF4-FFF2-40B4-BE49-F238E27FC236}">
                <a16:creationId xmlns:a16="http://schemas.microsoft.com/office/drawing/2014/main" id="{96C2B970-ADA3-FEEC-7D5F-F1C2CD7551D3}"/>
              </a:ext>
            </a:extLst>
          </p:cNvPr>
          <p:cNvSpPr txBox="1"/>
          <p:nvPr/>
        </p:nvSpPr>
        <p:spPr>
          <a:xfrm>
            <a:off x="255635" y="2393650"/>
            <a:ext cx="5466736" cy="553998"/>
          </a:xfrm>
          <a:prstGeom prst="rect">
            <a:avLst/>
          </a:prstGeom>
          <a:noFill/>
        </p:spPr>
        <p:txBody>
          <a:bodyPr wrap="square" rtlCol="0">
            <a:spAutoFit/>
          </a:bodyPr>
          <a:lstStyle/>
          <a:p>
            <a:r>
              <a:rPr lang="en-IN" sz="3000" dirty="0">
                <a:solidFill>
                  <a:schemeClr val="accent1"/>
                </a:solidFill>
                <a:latin typeface="Aharoni" panose="02010803020104030203" pitchFamily="2" charset="-79"/>
                <a:cs typeface="Aharoni" panose="02010803020104030203" pitchFamily="2" charset="-79"/>
              </a:rPr>
              <a:t>PROBLEMS FACED</a:t>
            </a:r>
          </a:p>
        </p:txBody>
      </p:sp>
      <p:sp>
        <p:nvSpPr>
          <p:cNvPr id="6" name="Rectangle 3">
            <a:extLst>
              <a:ext uri="{FF2B5EF4-FFF2-40B4-BE49-F238E27FC236}">
                <a16:creationId xmlns:a16="http://schemas.microsoft.com/office/drawing/2014/main" id="{48EBAB2E-F478-B8F0-FEB8-E54D2BD84879}"/>
              </a:ext>
            </a:extLst>
          </p:cNvPr>
          <p:cNvSpPr>
            <a:spLocks noChangeArrowheads="1"/>
          </p:cNvSpPr>
          <p:nvPr/>
        </p:nvSpPr>
        <p:spPr bwMode="auto">
          <a:xfrm>
            <a:off x="0" y="749350"/>
            <a:ext cx="1210351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31" name="Picture 7">
            <a:extLst>
              <a:ext uri="{FF2B5EF4-FFF2-40B4-BE49-F238E27FC236}">
                <a16:creationId xmlns:a16="http://schemas.microsoft.com/office/drawing/2014/main" id="{4F80F238-4BA4-D27D-8B7D-6F9285E22C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30995" y="1937562"/>
            <a:ext cx="7305370" cy="50089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9682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87B7C7-8094-943D-E421-4D64D3A7041F}"/>
              </a:ext>
            </a:extLst>
          </p:cNvPr>
          <p:cNvSpPr txBox="1"/>
          <p:nvPr/>
        </p:nvSpPr>
        <p:spPr>
          <a:xfrm>
            <a:off x="235974" y="216275"/>
            <a:ext cx="6253316" cy="707886"/>
          </a:xfrm>
          <a:prstGeom prst="rect">
            <a:avLst/>
          </a:prstGeom>
          <a:noFill/>
        </p:spPr>
        <p:txBody>
          <a:bodyPr wrap="square" rtlCol="0">
            <a:spAutoFit/>
          </a:bodyPr>
          <a:lstStyle/>
          <a:p>
            <a:r>
              <a:rPr lang="en-IN" sz="4000" dirty="0">
                <a:solidFill>
                  <a:schemeClr val="accent1"/>
                </a:solidFill>
                <a:latin typeface="Aharoni" panose="02010803020104030203" pitchFamily="2" charset="-79"/>
                <a:cs typeface="Aharoni" panose="02010803020104030203" pitchFamily="2" charset="-79"/>
              </a:rPr>
              <a:t>PROPOSED SOLUTION</a:t>
            </a:r>
          </a:p>
        </p:txBody>
      </p:sp>
      <p:sp>
        <p:nvSpPr>
          <p:cNvPr id="4" name="Rectangle 1">
            <a:extLst>
              <a:ext uri="{FF2B5EF4-FFF2-40B4-BE49-F238E27FC236}">
                <a16:creationId xmlns:a16="http://schemas.microsoft.com/office/drawing/2014/main" id="{B801D45E-0D11-7923-969C-807ECAE8D8E2}"/>
              </a:ext>
            </a:extLst>
          </p:cNvPr>
          <p:cNvSpPr>
            <a:spLocks noChangeArrowheads="1"/>
          </p:cNvSpPr>
          <p:nvPr/>
        </p:nvSpPr>
        <p:spPr bwMode="auto">
          <a:xfrm>
            <a:off x="235974" y="1003304"/>
            <a:ext cx="11798710" cy="2246769"/>
          </a:xfrm>
          <a:custGeom>
            <a:avLst/>
            <a:gdLst>
              <a:gd name="connsiteX0" fmla="*/ 0 w 11798710"/>
              <a:gd name="connsiteY0" fmla="*/ 0 h 2246769"/>
              <a:gd name="connsiteX1" fmla="*/ 930016 w 11798710"/>
              <a:gd name="connsiteY1" fmla="*/ 0 h 2246769"/>
              <a:gd name="connsiteX2" fmla="*/ 1624058 w 11798710"/>
              <a:gd name="connsiteY2" fmla="*/ 0 h 2246769"/>
              <a:gd name="connsiteX3" fmla="*/ 2554074 w 11798710"/>
              <a:gd name="connsiteY3" fmla="*/ 0 h 2246769"/>
              <a:gd name="connsiteX4" fmla="*/ 2894154 w 11798710"/>
              <a:gd name="connsiteY4" fmla="*/ 0 h 2246769"/>
              <a:gd name="connsiteX5" fmla="*/ 3588196 w 11798710"/>
              <a:gd name="connsiteY5" fmla="*/ 0 h 2246769"/>
              <a:gd name="connsiteX6" fmla="*/ 4282238 w 11798710"/>
              <a:gd name="connsiteY6" fmla="*/ 0 h 2246769"/>
              <a:gd name="connsiteX7" fmla="*/ 4976279 w 11798710"/>
              <a:gd name="connsiteY7" fmla="*/ 0 h 2246769"/>
              <a:gd name="connsiteX8" fmla="*/ 5434347 w 11798710"/>
              <a:gd name="connsiteY8" fmla="*/ 0 h 2246769"/>
              <a:gd name="connsiteX9" fmla="*/ 6128389 w 11798710"/>
              <a:gd name="connsiteY9" fmla="*/ 0 h 2246769"/>
              <a:gd name="connsiteX10" fmla="*/ 6468469 w 11798710"/>
              <a:gd name="connsiteY10" fmla="*/ 0 h 2246769"/>
              <a:gd name="connsiteX11" fmla="*/ 7280498 w 11798710"/>
              <a:gd name="connsiteY11" fmla="*/ 0 h 2246769"/>
              <a:gd name="connsiteX12" fmla="*/ 7620579 w 11798710"/>
              <a:gd name="connsiteY12" fmla="*/ 0 h 2246769"/>
              <a:gd name="connsiteX13" fmla="*/ 8196633 w 11798710"/>
              <a:gd name="connsiteY13" fmla="*/ 0 h 2246769"/>
              <a:gd name="connsiteX14" fmla="*/ 8536714 w 11798710"/>
              <a:gd name="connsiteY14" fmla="*/ 0 h 2246769"/>
              <a:gd name="connsiteX15" fmla="*/ 8876794 w 11798710"/>
              <a:gd name="connsiteY15" fmla="*/ 0 h 2246769"/>
              <a:gd name="connsiteX16" fmla="*/ 9570836 w 11798710"/>
              <a:gd name="connsiteY16" fmla="*/ 0 h 2246769"/>
              <a:gd name="connsiteX17" fmla="*/ 10382865 w 11798710"/>
              <a:gd name="connsiteY17" fmla="*/ 0 h 2246769"/>
              <a:gd name="connsiteX18" fmla="*/ 11076907 w 11798710"/>
              <a:gd name="connsiteY18" fmla="*/ 0 h 2246769"/>
              <a:gd name="connsiteX19" fmla="*/ 11798710 w 11798710"/>
              <a:gd name="connsiteY19" fmla="*/ 0 h 2246769"/>
              <a:gd name="connsiteX20" fmla="*/ 11798710 w 11798710"/>
              <a:gd name="connsiteY20" fmla="*/ 584160 h 2246769"/>
              <a:gd name="connsiteX21" fmla="*/ 11798710 w 11798710"/>
              <a:gd name="connsiteY21" fmla="*/ 1168320 h 2246769"/>
              <a:gd name="connsiteX22" fmla="*/ 11798710 w 11798710"/>
              <a:gd name="connsiteY22" fmla="*/ 1752480 h 2246769"/>
              <a:gd name="connsiteX23" fmla="*/ 11798710 w 11798710"/>
              <a:gd name="connsiteY23" fmla="*/ 2246769 h 2246769"/>
              <a:gd name="connsiteX24" fmla="*/ 11340642 w 11798710"/>
              <a:gd name="connsiteY24" fmla="*/ 2246769 h 2246769"/>
              <a:gd name="connsiteX25" fmla="*/ 10410626 w 11798710"/>
              <a:gd name="connsiteY25" fmla="*/ 2246769 h 2246769"/>
              <a:gd name="connsiteX26" fmla="*/ 9952559 w 11798710"/>
              <a:gd name="connsiteY26" fmla="*/ 2246769 h 2246769"/>
              <a:gd name="connsiteX27" fmla="*/ 9258517 w 11798710"/>
              <a:gd name="connsiteY27" fmla="*/ 2246769 h 2246769"/>
              <a:gd name="connsiteX28" fmla="*/ 8564475 w 11798710"/>
              <a:gd name="connsiteY28" fmla="*/ 2246769 h 2246769"/>
              <a:gd name="connsiteX29" fmla="*/ 7634459 w 11798710"/>
              <a:gd name="connsiteY29" fmla="*/ 2246769 h 2246769"/>
              <a:gd name="connsiteX30" fmla="*/ 6704443 w 11798710"/>
              <a:gd name="connsiteY30" fmla="*/ 2246769 h 2246769"/>
              <a:gd name="connsiteX31" fmla="*/ 5892415 w 11798710"/>
              <a:gd name="connsiteY31" fmla="*/ 2246769 h 2246769"/>
              <a:gd name="connsiteX32" fmla="*/ 5198373 w 11798710"/>
              <a:gd name="connsiteY32" fmla="*/ 2246769 h 2246769"/>
              <a:gd name="connsiteX33" fmla="*/ 4504331 w 11798710"/>
              <a:gd name="connsiteY33" fmla="*/ 2246769 h 2246769"/>
              <a:gd name="connsiteX34" fmla="*/ 3928276 w 11798710"/>
              <a:gd name="connsiteY34" fmla="*/ 2246769 h 2246769"/>
              <a:gd name="connsiteX35" fmla="*/ 3588196 w 11798710"/>
              <a:gd name="connsiteY35" fmla="*/ 2246769 h 2246769"/>
              <a:gd name="connsiteX36" fmla="*/ 2658180 w 11798710"/>
              <a:gd name="connsiteY36" fmla="*/ 2246769 h 2246769"/>
              <a:gd name="connsiteX37" fmla="*/ 1846151 w 11798710"/>
              <a:gd name="connsiteY37" fmla="*/ 2246769 h 2246769"/>
              <a:gd name="connsiteX38" fmla="*/ 1034122 w 11798710"/>
              <a:gd name="connsiteY38" fmla="*/ 2246769 h 2246769"/>
              <a:gd name="connsiteX39" fmla="*/ 0 w 11798710"/>
              <a:gd name="connsiteY39" fmla="*/ 2246769 h 2246769"/>
              <a:gd name="connsiteX40" fmla="*/ 0 w 11798710"/>
              <a:gd name="connsiteY40" fmla="*/ 1662609 h 2246769"/>
              <a:gd name="connsiteX41" fmla="*/ 0 w 11798710"/>
              <a:gd name="connsiteY41" fmla="*/ 1145852 h 2246769"/>
              <a:gd name="connsiteX42" fmla="*/ 0 w 11798710"/>
              <a:gd name="connsiteY42" fmla="*/ 584160 h 2246769"/>
              <a:gd name="connsiteX43" fmla="*/ 0 w 11798710"/>
              <a:gd name="connsiteY43" fmla="*/ 0 h 2246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1798710" h="2246769" fill="none" extrusionOk="0">
                <a:moveTo>
                  <a:pt x="0" y="0"/>
                </a:moveTo>
                <a:cubicBezTo>
                  <a:pt x="197193" y="8292"/>
                  <a:pt x="477862" y="-14537"/>
                  <a:pt x="930016" y="0"/>
                </a:cubicBezTo>
                <a:cubicBezTo>
                  <a:pt x="1382170" y="14537"/>
                  <a:pt x="1395149" y="28075"/>
                  <a:pt x="1624058" y="0"/>
                </a:cubicBezTo>
                <a:cubicBezTo>
                  <a:pt x="1852967" y="-28075"/>
                  <a:pt x="2094404" y="-4845"/>
                  <a:pt x="2554074" y="0"/>
                </a:cubicBezTo>
                <a:cubicBezTo>
                  <a:pt x="3013744" y="4845"/>
                  <a:pt x="2807323" y="10389"/>
                  <a:pt x="2894154" y="0"/>
                </a:cubicBezTo>
                <a:cubicBezTo>
                  <a:pt x="2980985" y="-10389"/>
                  <a:pt x="3362988" y="23077"/>
                  <a:pt x="3588196" y="0"/>
                </a:cubicBezTo>
                <a:cubicBezTo>
                  <a:pt x="3813404" y="-23077"/>
                  <a:pt x="3983514" y="28487"/>
                  <a:pt x="4282238" y="0"/>
                </a:cubicBezTo>
                <a:cubicBezTo>
                  <a:pt x="4580962" y="-28487"/>
                  <a:pt x="4707740" y="-5244"/>
                  <a:pt x="4976279" y="0"/>
                </a:cubicBezTo>
                <a:cubicBezTo>
                  <a:pt x="5244818" y="5244"/>
                  <a:pt x="5319193" y="-22721"/>
                  <a:pt x="5434347" y="0"/>
                </a:cubicBezTo>
                <a:cubicBezTo>
                  <a:pt x="5549501" y="22721"/>
                  <a:pt x="5952661" y="-14052"/>
                  <a:pt x="6128389" y="0"/>
                </a:cubicBezTo>
                <a:cubicBezTo>
                  <a:pt x="6304117" y="14052"/>
                  <a:pt x="6389839" y="4961"/>
                  <a:pt x="6468469" y="0"/>
                </a:cubicBezTo>
                <a:cubicBezTo>
                  <a:pt x="6547099" y="-4961"/>
                  <a:pt x="7054629" y="-26422"/>
                  <a:pt x="7280498" y="0"/>
                </a:cubicBezTo>
                <a:cubicBezTo>
                  <a:pt x="7506367" y="26422"/>
                  <a:pt x="7550423" y="-5633"/>
                  <a:pt x="7620579" y="0"/>
                </a:cubicBezTo>
                <a:cubicBezTo>
                  <a:pt x="7690735" y="5633"/>
                  <a:pt x="7978272" y="-10854"/>
                  <a:pt x="8196633" y="0"/>
                </a:cubicBezTo>
                <a:cubicBezTo>
                  <a:pt x="8414994" y="10854"/>
                  <a:pt x="8458965" y="-13437"/>
                  <a:pt x="8536714" y="0"/>
                </a:cubicBezTo>
                <a:cubicBezTo>
                  <a:pt x="8614463" y="13437"/>
                  <a:pt x="8734628" y="-15076"/>
                  <a:pt x="8876794" y="0"/>
                </a:cubicBezTo>
                <a:cubicBezTo>
                  <a:pt x="9018960" y="15076"/>
                  <a:pt x="9289935" y="-25058"/>
                  <a:pt x="9570836" y="0"/>
                </a:cubicBezTo>
                <a:cubicBezTo>
                  <a:pt x="9851737" y="25058"/>
                  <a:pt x="10146095" y="5887"/>
                  <a:pt x="10382865" y="0"/>
                </a:cubicBezTo>
                <a:cubicBezTo>
                  <a:pt x="10619635" y="-5887"/>
                  <a:pt x="10910421" y="-1286"/>
                  <a:pt x="11076907" y="0"/>
                </a:cubicBezTo>
                <a:cubicBezTo>
                  <a:pt x="11243393" y="1286"/>
                  <a:pt x="11566173" y="23646"/>
                  <a:pt x="11798710" y="0"/>
                </a:cubicBezTo>
                <a:cubicBezTo>
                  <a:pt x="11819449" y="235534"/>
                  <a:pt x="11809654" y="293064"/>
                  <a:pt x="11798710" y="584160"/>
                </a:cubicBezTo>
                <a:cubicBezTo>
                  <a:pt x="11787766" y="875256"/>
                  <a:pt x="11812581" y="1048089"/>
                  <a:pt x="11798710" y="1168320"/>
                </a:cubicBezTo>
                <a:cubicBezTo>
                  <a:pt x="11784839" y="1288551"/>
                  <a:pt x="11782522" y="1543427"/>
                  <a:pt x="11798710" y="1752480"/>
                </a:cubicBezTo>
                <a:cubicBezTo>
                  <a:pt x="11814898" y="1961533"/>
                  <a:pt x="11817936" y="2036851"/>
                  <a:pt x="11798710" y="2246769"/>
                </a:cubicBezTo>
                <a:cubicBezTo>
                  <a:pt x="11673488" y="2264666"/>
                  <a:pt x="11506653" y="2255165"/>
                  <a:pt x="11340642" y="2246769"/>
                </a:cubicBezTo>
                <a:cubicBezTo>
                  <a:pt x="11174631" y="2238373"/>
                  <a:pt x="10718911" y="2287273"/>
                  <a:pt x="10410626" y="2246769"/>
                </a:cubicBezTo>
                <a:cubicBezTo>
                  <a:pt x="10102341" y="2206265"/>
                  <a:pt x="10148343" y="2231082"/>
                  <a:pt x="9952559" y="2246769"/>
                </a:cubicBezTo>
                <a:cubicBezTo>
                  <a:pt x="9756775" y="2262456"/>
                  <a:pt x="9587158" y="2223837"/>
                  <a:pt x="9258517" y="2246769"/>
                </a:cubicBezTo>
                <a:cubicBezTo>
                  <a:pt x="8929876" y="2269701"/>
                  <a:pt x="8820224" y="2252953"/>
                  <a:pt x="8564475" y="2246769"/>
                </a:cubicBezTo>
                <a:cubicBezTo>
                  <a:pt x="8308726" y="2240585"/>
                  <a:pt x="7960720" y="2288069"/>
                  <a:pt x="7634459" y="2246769"/>
                </a:cubicBezTo>
                <a:cubicBezTo>
                  <a:pt x="7308198" y="2205469"/>
                  <a:pt x="7037682" y="2226847"/>
                  <a:pt x="6704443" y="2246769"/>
                </a:cubicBezTo>
                <a:cubicBezTo>
                  <a:pt x="6371204" y="2266691"/>
                  <a:pt x="6217560" y="2287229"/>
                  <a:pt x="5892415" y="2246769"/>
                </a:cubicBezTo>
                <a:cubicBezTo>
                  <a:pt x="5567270" y="2206309"/>
                  <a:pt x="5540610" y="2253925"/>
                  <a:pt x="5198373" y="2246769"/>
                </a:cubicBezTo>
                <a:cubicBezTo>
                  <a:pt x="4856136" y="2239613"/>
                  <a:pt x="4781945" y="2259936"/>
                  <a:pt x="4504331" y="2246769"/>
                </a:cubicBezTo>
                <a:cubicBezTo>
                  <a:pt x="4226717" y="2233602"/>
                  <a:pt x="4172164" y="2252062"/>
                  <a:pt x="3928276" y="2246769"/>
                </a:cubicBezTo>
                <a:cubicBezTo>
                  <a:pt x="3684388" y="2241476"/>
                  <a:pt x="3716827" y="2232929"/>
                  <a:pt x="3588196" y="2246769"/>
                </a:cubicBezTo>
                <a:cubicBezTo>
                  <a:pt x="3459565" y="2260609"/>
                  <a:pt x="3028028" y="2228043"/>
                  <a:pt x="2658180" y="2246769"/>
                </a:cubicBezTo>
                <a:cubicBezTo>
                  <a:pt x="2288332" y="2265495"/>
                  <a:pt x="2246207" y="2243447"/>
                  <a:pt x="1846151" y="2246769"/>
                </a:cubicBezTo>
                <a:cubicBezTo>
                  <a:pt x="1446095" y="2250091"/>
                  <a:pt x="1268795" y="2251281"/>
                  <a:pt x="1034122" y="2246769"/>
                </a:cubicBezTo>
                <a:cubicBezTo>
                  <a:pt x="799449" y="2242257"/>
                  <a:pt x="317727" y="2258883"/>
                  <a:pt x="0" y="2246769"/>
                </a:cubicBezTo>
                <a:cubicBezTo>
                  <a:pt x="-14499" y="2129745"/>
                  <a:pt x="-9749" y="1797339"/>
                  <a:pt x="0" y="1662609"/>
                </a:cubicBezTo>
                <a:cubicBezTo>
                  <a:pt x="9749" y="1527879"/>
                  <a:pt x="-4115" y="1336903"/>
                  <a:pt x="0" y="1145852"/>
                </a:cubicBezTo>
                <a:cubicBezTo>
                  <a:pt x="4115" y="954801"/>
                  <a:pt x="24380" y="711981"/>
                  <a:pt x="0" y="584160"/>
                </a:cubicBezTo>
                <a:cubicBezTo>
                  <a:pt x="-24380" y="456339"/>
                  <a:pt x="-14578" y="214942"/>
                  <a:pt x="0" y="0"/>
                </a:cubicBezTo>
                <a:close/>
              </a:path>
              <a:path w="11798710" h="2246769" stroke="0" extrusionOk="0">
                <a:moveTo>
                  <a:pt x="0" y="0"/>
                </a:moveTo>
                <a:cubicBezTo>
                  <a:pt x="440723" y="36482"/>
                  <a:pt x="731178" y="-36195"/>
                  <a:pt x="930016" y="0"/>
                </a:cubicBezTo>
                <a:cubicBezTo>
                  <a:pt x="1128854" y="36195"/>
                  <a:pt x="1124501" y="3270"/>
                  <a:pt x="1270096" y="0"/>
                </a:cubicBezTo>
                <a:cubicBezTo>
                  <a:pt x="1415691" y="-3270"/>
                  <a:pt x="1628815" y="-282"/>
                  <a:pt x="1846151" y="0"/>
                </a:cubicBezTo>
                <a:cubicBezTo>
                  <a:pt x="2063488" y="282"/>
                  <a:pt x="2098346" y="21937"/>
                  <a:pt x="2304219" y="0"/>
                </a:cubicBezTo>
                <a:cubicBezTo>
                  <a:pt x="2510092" y="-21937"/>
                  <a:pt x="2734170" y="-22703"/>
                  <a:pt x="3116248" y="0"/>
                </a:cubicBezTo>
                <a:cubicBezTo>
                  <a:pt x="3498326" y="22703"/>
                  <a:pt x="3665844" y="33578"/>
                  <a:pt x="3928276" y="0"/>
                </a:cubicBezTo>
                <a:cubicBezTo>
                  <a:pt x="4190708" y="-33578"/>
                  <a:pt x="4137420" y="1771"/>
                  <a:pt x="4268357" y="0"/>
                </a:cubicBezTo>
                <a:cubicBezTo>
                  <a:pt x="4399294" y="-1771"/>
                  <a:pt x="4800306" y="16222"/>
                  <a:pt x="4962399" y="0"/>
                </a:cubicBezTo>
                <a:cubicBezTo>
                  <a:pt x="5124492" y="-16222"/>
                  <a:pt x="5282850" y="14378"/>
                  <a:pt x="5420466" y="0"/>
                </a:cubicBezTo>
                <a:cubicBezTo>
                  <a:pt x="5558082" y="-14378"/>
                  <a:pt x="5738886" y="-15162"/>
                  <a:pt x="5996521" y="0"/>
                </a:cubicBezTo>
                <a:cubicBezTo>
                  <a:pt x="6254157" y="15162"/>
                  <a:pt x="6509048" y="-33211"/>
                  <a:pt x="6690563" y="0"/>
                </a:cubicBezTo>
                <a:cubicBezTo>
                  <a:pt x="6872078" y="33211"/>
                  <a:pt x="7064258" y="-14280"/>
                  <a:pt x="7384604" y="0"/>
                </a:cubicBezTo>
                <a:cubicBezTo>
                  <a:pt x="7704950" y="14280"/>
                  <a:pt x="7961783" y="-3386"/>
                  <a:pt x="8196633" y="0"/>
                </a:cubicBezTo>
                <a:cubicBezTo>
                  <a:pt x="8431483" y="3386"/>
                  <a:pt x="8409326" y="912"/>
                  <a:pt x="8536714" y="0"/>
                </a:cubicBezTo>
                <a:cubicBezTo>
                  <a:pt x="8664102" y="-912"/>
                  <a:pt x="8788320" y="12790"/>
                  <a:pt x="8876794" y="0"/>
                </a:cubicBezTo>
                <a:cubicBezTo>
                  <a:pt x="8965268" y="-12790"/>
                  <a:pt x="9146205" y="-12768"/>
                  <a:pt x="9334862" y="0"/>
                </a:cubicBezTo>
                <a:cubicBezTo>
                  <a:pt x="9523519" y="12768"/>
                  <a:pt x="9849591" y="21119"/>
                  <a:pt x="10264878" y="0"/>
                </a:cubicBezTo>
                <a:cubicBezTo>
                  <a:pt x="10680165" y="-21119"/>
                  <a:pt x="10711794" y="11975"/>
                  <a:pt x="10958919" y="0"/>
                </a:cubicBezTo>
                <a:cubicBezTo>
                  <a:pt x="11206044" y="-11975"/>
                  <a:pt x="11543329" y="24039"/>
                  <a:pt x="11798710" y="0"/>
                </a:cubicBezTo>
                <a:cubicBezTo>
                  <a:pt x="11784452" y="166724"/>
                  <a:pt x="11774297" y="381843"/>
                  <a:pt x="11798710" y="584160"/>
                </a:cubicBezTo>
                <a:cubicBezTo>
                  <a:pt x="11823123" y="786477"/>
                  <a:pt x="11804325" y="908539"/>
                  <a:pt x="11798710" y="1100917"/>
                </a:cubicBezTo>
                <a:cubicBezTo>
                  <a:pt x="11793095" y="1293295"/>
                  <a:pt x="11801168" y="1387100"/>
                  <a:pt x="11798710" y="1640141"/>
                </a:cubicBezTo>
                <a:cubicBezTo>
                  <a:pt x="11796252" y="1893182"/>
                  <a:pt x="11787956" y="2068520"/>
                  <a:pt x="11798710" y="2246769"/>
                </a:cubicBezTo>
                <a:cubicBezTo>
                  <a:pt x="11560795" y="2219465"/>
                  <a:pt x="11250165" y="2232434"/>
                  <a:pt x="10868694" y="2246769"/>
                </a:cubicBezTo>
                <a:cubicBezTo>
                  <a:pt x="10487223" y="2261104"/>
                  <a:pt x="10358361" y="2283905"/>
                  <a:pt x="10056665" y="2246769"/>
                </a:cubicBezTo>
                <a:cubicBezTo>
                  <a:pt x="9754969" y="2209633"/>
                  <a:pt x="9565690" y="2242675"/>
                  <a:pt x="9126649" y="2246769"/>
                </a:cubicBezTo>
                <a:cubicBezTo>
                  <a:pt x="8687608" y="2250863"/>
                  <a:pt x="8796880" y="2250216"/>
                  <a:pt x="8550595" y="2246769"/>
                </a:cubicBezTo>
                <a:cubicBezTo>
                  <a:pt x="8304310" y="2243322"/>
                  <a:pt x="8001372" y="2279870"/>
                  <a:pt x="7856553" y="2246769"/>
                </a:cubicBezTo>
                <a:cubicBezTo>
                  <a:pt x="7711734" y="2213668"/>
                  <a:pt x="7625392" y="2234100"/>
                  <a:pt x="7516472" y="2246769"/>
                </a:cubicBezTo>
                <a:cubicBezTo>
                  <a:pt x="7407552" y="2259438"/>
                  <a:pt x="6980879" y="2243809"/>
                  <a:pt x="6586456" y="2246769"/>
                </a:cubicBezTo>
                <a:cubicBezTo>
                  <a:pt x="6192033" y="2249729"/>
                  <a:pt x="6052336" y="2247384"/>
                  <a:pt x="5656440" y="2246769"/>
                </a:cubicBezTo>
                <a:cubicBezTo>
                  <a:pt x="5260544" y="2246154"/>
                  <a:pt x="5269409" y="2247056"/>
                  <a:pt x="5080386" y="2246769"/>
                </a:cubicBezTo>
                <a:cubicBezTo>
                  <a:pt x="4891363" y="2246482"/>
                  <a:pt x="4683404" y="2230265"/>
                  <a:pt x="4504331" y="2246769"/>
                </a:cubicBezTo>
                <a:cubicBezTo>
                  <a:pt x="4325259" y="2263273"/>
                  <a:pt x="4011149" y="2283917"/>
                  <a:pt x="3692302" y="2246769"/>
                </a:cubicBezTo>
                <a:cubicBezTo>
                  <a:pt x="3373455" y="2209621"/>
                  <a:pt x="3295983" y="2235899"/>
                  <a:pt x="3116248" y="2246769"/>
                </a:cubicBezTo>
                <a:cubicBezTo>
                  <a:pt x="2936513" y="2257639"/>
                  <a:pt x="2943877" y="2252279"/>
                  <a:pt x="2776167" y="2246769"/>
                </a:cubicBezTo>
                <a:cubicBezTo>
                  <a:pt x="2608457" y="2241259"/>
                  <a:pt x="2548405" y="2244387"/>
                  <a:pt x="2436087" y="2246769"/>
                </a:cubicBezTo>
                <a:cubicBezTo>
                  <a:pt x="2323769" y="2249151"/>
                  <a:pt x="1888016" y="2225850"/>
                  <a:pt x="1624058" y="2246769"/>
                </a:cubicBezTo>
                <a:cubicBezTo>
                  <a:pt x="1360100" y="2267688"/>
                  <a:pt x="1359981" y="2255672"/>
                  <a:pt x="1283977" y="2246769"/>
                </a:cubicBezTo>
                <a:cubicBezTo>
                  <a:pt x="1207973" y="2237866"/>
                  <a:pt x="595048" y="2189067"/>
                  <a:pt x="0" y="2246769"/>
                </a:cubicBezTo>
                <a:cubicBezTo>
                  <a:pt x="8499" y="1971815"/>
                  <a:pt x="-4119" y="1921828"/>
                  <a:pt x="0" y="1685077"/>
                </a:cubicBezTo>
                <a:cubicBezTo>
                  <a:pt x="4119" y="1448326"/>
                  <a:pt x="1922" y="1225050"/>
                  <a:pt x="0" y="1100917"/>
                </a:cubicBezTo>
                <a:cubicBezTo>
                  <a:pt x="-1922" y="976784"/>
                  <a:pt x="-15978" y="735374"/>
                  <a:pt x="0" y="516757"/>
                </a:cubicBezTo>
                <a:cubicBezTo>
                  <a:pt x="15978" y="298140"/>
                  <a:pt x="24320" y="163311"/>
                  <a:pt x="0" y="0"/>
                </a:cubicBezTo>
                <a:close/>
              </a:path>
            </a:pathLst>
          </a:custGeom>
          <a:solidFill>
            <a:srgbClr val="1A86A9"/>
          </a:solidFill>
          <a:ln w="38100">
            <a:solidFill>
              <a:schemeClr val="tx1"/>
            </a:solidFill>
            <a:miter lim="800000"/>
            <a:headEnd/>
            <a:tailEnd/>
            <a:extLst>
              <a:ext uri="{C807C97D-BFC1-408E-A445-0C87EB9F89A2}">
                <ask:lineSketchStyleProps xmlns:ask="http://schemas.microsoft.com/office/drawing/2018/sketchyshapes" sd="738538604">
                  <a:prstGeom prst="rect">
                    <a:avLst/>
                  </a:prstGeom>
                  <ask:type>
                    <ask:lineSketchFreehand/>
                  </ask:type>
                </ask:lineSketchStyleProps>
              </a:ext>
            </a:extLst>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Britannic Bold" panose="020B0903060703020204" pitchFamily="34" charset="0"/>
              </a:rPr>
              <a:t>The </a:t>
            </a:r>
            <a:r>
              <a:rPr kumimoji="0" lang="en-US" altLang="en-US" sz="2000" b="1" i="0" u="none" strike="noStrike" cap="none" normalizeH="0" baseline="0" dirty="0">
                <a:ln>
                  <a:noFill/>
                </a:ln>
                <a:solidFill>
                  <a:schemeClr val="tx1"/>
                </a:solidFill>
                <a:effectLst/>
                <a:latin typeface="Britannic Bold" panose="020B0903060703020204" pitchFamily="34" charset="0"/>
              </a:rPr>
              <a:t>Maritime Border Alert System</a:t>
            </a:r>
            <a:r>
              <a:rPr kumimoji="0" lang="en-US" altLang="en-US" sz="2000" b="0" i="0" u="none" strike="noStrike" cap="none" normalizeH="0" baseline="0" dirty="0">
                <a:ln>
                  <a:noFill/>
                </a:ln>
                <a:solidFill>
                  <a:schemeClr val="tx1"/>
                </a:solidFill>
                <a:effectLst/>
                <a:latin typeface="Britannic Bold" panose="020B0903060703020204" pitchFamily="34" charset="0"/>
              </a:rPr>
              <a:t> automates real-time tracking and warnings for fishermen using GPS and LoRa communication. Fishermen’s locations are continuously monitored, and if they approach or cross restricted waters, the system triggers instant alerts. A multi-level verification process ensures accuracy by comparing GPS data with predefined maritime boundaries. Alerts are sent via mobile notifications or onboard devices, even without internet access. The system logs all movements for security and compliance enforcement. A dispute resolution mechanism allows verification of alerts, ensuring fairness and accuracy while protecting fishermen and preventing border conflicts.</a:t>
            </a:r>
          </a:p>
        </p:txBody>
      </p:sp>
      <p:pic>
        <p:nvPicPr>
          <p:cNvPr id="5" name="Picture 5">
            <a:extLst>
              <a:ext uri="{FF2B5EF4-FFF2-40B4-BE49-F238E27FC236}">
                <a16:creationId xmlns:a16="http://schemas.microsoft.com/office/drawing/2014/main" id="{99FDD8CD-622C-3E98-10B0-78D35C99FA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7905" y="3180041"/>
            <a:ext cx="8150328" cy="34616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7496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4A8DF1-A6DB-01CE-AD81-A8853F1CA26E}"/>
              </a:ext>
            </a:extLst>
          </p:cNvPr>
          <p:cNvSpPr txBox="1"/>
          <p:nvPr/>
        </p:nvSpPr>
        <p:spPr>
          <a:xfrm>
            <a:off x="3519946" y="108154"/>
            <a:ext cx="5453525" cy="630942"/>
          </a:xfrm>
          <a:prstGeom prst="rect">
            <a:avLst/>
          </a:prstGeom>
          <a:noFill/>
        </p:spPr>
        <p:txBody>
          <a:bodyPr wrap="square" rtlCol="0">
            <a:spAutoFit/>
          </a:bodyPr>
          <a:lstStyle/>
          <a:p>
            <a:r>
              <a:rPr lang="en-IN" sz="3500" dirty="0">
                <a:solidFill>
                  <a:schemeClr val="accent1"/>
                </a:solidFill>
                <a:latin typeface="Aharoni" panose="02010803020104030203" pitchFamily="2" charset="-79"/>
                <a:cs typeface="Aharoni" panose="02010803020104030203" pitchFamily="2" charset="-79"/>
              </a:rPr>
              <a:t>DESIGN METHODOLOGY</a:t>
            </a:r>
          </a:p>
        </p:txBody>
      </p:sp>
      <p:cxnSp>
        <p:nvCxnSpPr>
          <p:cNvPr id="7" name="Straight Connector 6">
            <a:extLst>
              <a:ext uri="{FF2B5EF4-FFF2-40B4-BE49-F238E27FC236}">
                <a16:creationId xmlns:a16="http://schemas.microsoft.com/office/drawing/2014/main" id="{FF21C601-8DCC-B9FC-894C-9525FE1C154E}"/>
              </a:ext>
            </a:extLst>
          </p:cNvPr>
          <p:cNvCxnSpPr>
            <a:cxnSpLocks/>
          </p:cNvCxnSpPr>
          <p:nvPr/>
        </p:nvCxnSpPr>
        <p:spPr>
          <a:xfrm flipH="1">
            <a:off x="8681884" y="2541980"/>
            <a:ext cx="1125" cy="0"/>
          </a:xfrm>
          <a:prstGeom prst="line">
            <a:avLst/>
          </a:prstGeom>
        </p:spPr>
        <p:style>
          <a:lnRef idx="3">
            <a:schemeClr val="accent1"/>
          </a:lnRef>
          <a:fillRef idx="0">
            <a:schemeClr val="accent1"/>
          </a:fillRef>
          <a:effectRef idx="2">
            <a:schemeClr val="accent1"/>
          </a:effectRef>
          <a:fontRef idx="minor">
            <a:schemeClr val="tx1"/>
          </a:fontRef>
        </p:style>
      </p:cxnSp>
      <p:grpSp>
        <p:nvGrpSpPr>
          <p:cNvPr id="19" name="Group 18">
            <a:extLst>
              <a:ext uri="{FF2B5EF4-FFF2-40B4-BE49-F238E27FC236}">
                <a16:creationId xmlns:a16="http://schemas.microsoft.com/office/drawing/2014/main" id="{258D704D-4D3A-A00C-D432-88BB2CB25AB3}"/>
              </a:ext>
            </a:extLst>
          </p:cNvPr>
          <p:cNvGrpSpPr/>
          <p:nvPr/>
        </p:nvGrpSpPr>
        <p:grpSpPr>
          <a:xfrm>
            <a:off x="1370649" y="289615"/>
            <a:ext cx="2188629" cy="576977"/>
            <a:chOff x="1647911" y="1135191"/>
            <a:chExt cx="2188629" cy="576977"/>
          </a:xfrm>
        </p:grpSpPr>
        <p:grpSp>
          <p:nvGrpSpPr>
            <p:cNvPr id="3" name="Group 2">
              <a:extLst>
                <a:ext uri="{FF2B5EF4-FFF2-40B4-BE49-F238E27FC236}">
                  <a16:creationId xmlns:a16="http://schemas.microsoft.com/office/drawing/2014/main" id="{816D45B4-603A-1B27-93CA-29F9572D6C8F}"/>
                </a:ext>
              </a:extLst>
            </p:cNvPr>
            <p:cNvGrpSpPr/>
            <p:nvPr/>
          </p:nvGrpSpPr>
          <p:grpSpPr>
            <a:xfrm rot="16200000" flipV="1">
              <a:off x="2453737" y="329365"/>
              <a:ext cx="576977" cy="2188629"/>
              <a:chOff x="10221519" y="2818770"/>
              <a:chExt cx="561330" cy="1433605"/>
            </a:xfrm>
          </p:grpSpPr>
          <p:pic>
            <p:nvPicPr>
              <p:cNvPr id="4" name="Picture 3">
                <a:extLst>
                  <a:ext uri="{FF2B5EF4-FFF2-40B4-BE49-F238E27FC236}">
                    <a16:creationId xmlns:a16="http://schemas.microsoft.com/office/drawing/2014/main" id="{9476CB3C-657A-37BB-F641-D24A87C3B11D}"/>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rot="5400000" flipV="1">
                <a:off x="10327027" y="2924543"/>
                <a:ext cx="561596" cy="350049"/>
              </a:xfrm>
              <a:prstGeom prst="rect">
                <a:avLst/>
              </a:prstGeom>
            </p:spPr>
          </p:pic>
          <p:cxnSp>
            <p:nvCxnSpPr>
              <p:cNvPr id="5" name="Straight Connector 4">
                <a:extLst>
                  <a:ext uri="{FF2B5EF4-FFF2-40B4-BE49-F238E27FC236}">
                    <a16:creationId xmlns:a16="http://schemas.microsoft.com/office/drawing/2014/main" id="{9D129605-8B80-5FC0-B844-0383943A7FC3}"/>
                  </a:ext>
                </a:extLst>
              </p:cNvPr>
              <p:cNvCxnSpPr>
                <a:cxnSpLocks/>
              </p:cNvCxnSpPr>
              <p:nvPr/>
            </p:nvCxnSpPr>
            <p:spPr>
              <a:xfrm flipH="1">
                <a:off x="10221519" y="4252375"/>
                <a:ext cx="422564" cy="0"/>
              </a:xfrm>
              <a:prstGeom prst="line">
                <a:avLst/>
              </a:prstGeom>
            </p:spPr>
            <p:style>
              <a:lnRef idx="3">
                <a:schemeClr val="accent1"/>
              </a:lnRef>
              <a:fillRef idx="0">
                <a:schemeClr val="accent1"/>
              </a:fillRef>
              <a:effectRef idx="2">
                <a:schemeClr val="accent1"/>
              </a:effectRef>
              <a:fontRef idx="minor">
                <a:schemeClr val="tx1"/>
              </a:fontRef>
            </p:style>
          </p:cxnSp>
        </p:grpSp>
        <p:cxnSp>
          <p:nvCxnSpPr>
            <p:cNvPr id="8" name="Straight Connector 7">
              <a:extLst>
                <a:ext uri="{FF2B5EF4-FFF2-40B4-BE49-F238E27FC236}">
                  <a16:creationId xmlns:a16="http://schemas.microsoft.com/office/drawing/2014/main" id="{6DCB46AF-ECCE-BCB7-83D1-037982FC3C99}"/>
                </a:ext>
              </a:extLst>
            </p:cNvPr>
            <p:cNvCxnSpPr>
              <a:cxnSpLocks/>
            </p:cNvCxnSpPr>
            <p:nvPr/>
          </p:nvCxnSpPr>
          <p:spPr>
            <a:xfrm flipH="1">
              <a:off x="1653312" y="1280330"/>
              <a:ext cx="1375023" cy="0"/>
            </a:xfrm>
            <a:prstGeom prst="line">
              <a:avLst/>
            </a:prstGeom>
            <a:ln>
              <a:solidFill>
                <a:schemeClr val="accent1"/>
              </a:solidFill>
            </a:ln>
          </p:spPr>
          <p:style>
            <a:lnRef idx="3">
              <a:schemeClr val="accent1"/>
            </a:lnRef>
            <a:fillRef idx="0">
              <a:schemeClr val="accent1"/>
            </a:fillRef>
            <a:effectRef idx="2">
              <a:schemeClr val="accent1"/>
            </a:effectRef>
            <a:fontRef idx="minor">
              <a:schemeClr val="tx1"/>
            </a:fontRef>
          </p:style>
        </p:cxnSp>
      </p:grpSp>
      <p:grpSp>
        <p:nvGrpSpPr>
          <p:cNvPr id="6" name="Group 5">
            <a:extLst>
              <a:ext uri="{FF2B5EF4-FFF2-40B4-BE49-F238E27FC236}">
                <a16:creationId xmlns:a16="http://schemas.microsoft.com/office/drawing/2014/main" id="{82F8D8EF-A77A-795D-E8D6-E613B24B6316}"/>
              </a:ext>
            </a:extLst>
          </p:cNvPr>
          <p:cNvGrpSpPr/>
          <p:nvPr/>
        </p:nvGrpSpPr>
        <p:grpSpPr>
          <a:xfrm flipH="1">
            <a:off x="8769422" y="250285"/>
            <a:ext cx="2188629" cy="576977"/>
            <a:chOff x="1647911" y="1135191"/>
            <a:chExt cx="2188629" cy="576977"/>
          </a:xfrm>
        </p:grpSpPr>
        <p:grpSp>
          <p:nvGrpSpPr>
            <p:cNvPr id="9" name="Group 8">
              <a:extLst>
                <a:ext uri="{FF2B5EF4-FFF2-40B4-BE49-F238E27FC236}">
                  <a16:creationId xmlns:a16="http://schemas.microsoft.com/office/drawing/2014/main" id="{92330777-01C1-C3A7-074C-16123DCEE0A6}"/>
                </a:ext>
              </a:extLst>
            </p:cNvPr>
            <p:cNvGrpSpPr/>
            <p:nvPr/>
          </p:nvGrpSpPr>
          <p:grpSpPr>
            <a:xfrm rot="16200000" flipV="1">
              <a:off x="2453737" y="329365"/>
              <a:ext cx="576977" cy="2188629"/>
              <a:chOff x="10221519" y="2818770"/>
              <a:chExt cx="561330" cy="1433605"/>
            </a:xfrm>
          </p:grpSpPr>
          <p:pic>
            <p:nvPicPr>
              <p:cNvPr id="11" name="Picture 10">
                <a:extLst>
                  <a:ext uri="{FF2B5EF4-FFF2-40B4-BE49-F238E27FC236}">
                    <a16:creationId xmlns:a16="http://schemas.microsoft.com/office/drawing/2014/main" id="{88D06645-7C40-5FBF-1AB9-ACAE834EC81F}"/>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rot="5400000" flipV="1">
                <a:off x="10327027" y="2924543"/>
                <a:ext cx="561596" cy="350049"/>
              </a:xfrm>
              <a:prstGeom prst="rect">
                <a:avLst/>
              </a:prstGeom>
            </p:spPr>
          </p:pic>
          <p:cxnSp>
            <p:nvCxnSpPr>
              <p:cNvPr id="12" name="Straight Connector 11">
                <a:extLst>
                  <a:ext uri="{FF2B5EF4-FFF2-40B4-BE49-F238E27FC236}">
                    <a16:creationId xmlns:a16="http://schemas.microsoft.com/office/drawing/2014/main" id="{5209E501-7BC4-FC46-7D58-C66E0315FA24}"/>
                  </a:ext>
                </a:extLst>
              </p:cNvPr>
              <p:cNvCxnSpPr>
                <a:cxnSpLocks/>
              </p:cNvCxnSpPr>
              <p:nvPr/>
            </p:nvCxnSpPr>
            <p:spPr>
              <a:xfrm flipH="1">
                <a:off x="10221519" y="4252375"/>
                <a:ext cx="422564" cy="0"/>
              </a:xfrm>
              <a:prstGeom prst="line">
                <a:avLst/>
              </a:prstGeom>
            </p:spPr>
            <p:style>
              <a:lnRef idx="3">
                <a:schemeClr val="accent1"/>
              </a:lnRef>
              <a:fillRef idx="0">
                <a:schemeClr val="accent1"/>
              </a:fillRef>
              <a:effectRef idx="2">
                <a:schemeClr val="accent1"/>
              </a:effectRef>
              <a:fontRef idx="minor">
                <a:schemeClr val="tx1"/>
              </a:fontRef>
            </p:style>
          </p:cxnSp>
        </p:grpSp>
        <p:cxnSp>
          <p:nvCxnSpPr>
            <p:cNvPr id="10" name="Straight Connector 9">
              <a:extLst>
                <a:ext uri="{FF2B5EF4-FFF2-40B4-BE49-F238E27FC236}">
                  <a16:creationId xmlns:a16="http://schemas.microsoft.com/office/drawing/2014/main" id="{BFFB45C5-8423-AE69-B365-029FA646F94B}"/>
                </a:ext>
              </a:extLst>
            </p:cNvPr>
            <p:cNvCxnSpPr>
              <a:cxnSpLocks/>
            </p:cNvCxnSpPr>
            <p:nvPr/>
          </p:nvCxnSpPr>
          <p:spPr>
            <a:xfrm flipH="1">
              <a:off x="1653312" y="1280330"/>
              <a:ext cx="1375023" cy="0"/>
            </a:xfrm>
            <a:prstGeom prst="line">
              <a:avLst/>
            </a:prstGeom>
            <a:ln>
              <a:solidFill>
                <a:schemeClr val="accent1"/>
              </a:solidFill>
            </a:ln>
          </p:spPr>
          <p:style>
            <a:lnRef idx="3">
              <a:schemeClr val="accent1"/>
            </a:lnRef>
            <a:fillRef idx="0">
              <a:schemeClr val="accent1"/>
            </a:fillRef>
            <a:effectRef idx="2">
              <a:schemeClr val="accent1"/>
            </a:effectRef>
            <a:fontRef idx="minor">
              <a:schemeClr val="tx1"/>
            </a:fontRef>
          </p:style>
        </p:cxnSp>
      </p:grpSp>
      <p:pic>
        <p:nvPicPr>
          <p:cNvPr id="14" name="Picture 13">
            <a:extLst>
              <a:ext uri="{FF2B5EF4-FFF2-40B4-BE49-F238E27FC236}">
                <a16:creationId xmlns:a16="http://schemas.microsoft.com/office/drawing/2014/main" id="{BB0A50C5-480B-7A41-0152-8BAB9FA40686}"/>
              </a:ext>
            </a:extLst>
          </p:cNvPr>
          <p:cNvPicPr>
            <a:picLocks noChangeAspect="1"/>
          </p:cNvPicPr>
          <p:nvPr/>
        </p:nvPicPr>
        <p:blipFill>
          <a:blip r:embed="rId4"/>
          <a:srcRect t="28244" b="28745"/>
          <a:stretch/>
        </p:blipFill>
        <p:spPr>
          <a:xfrm>
            <a:off x="2909652" y="768278"/>
            <a:ext cx="6382018" cy="5883246"/>
          </a:xfrm>
          <a:prstGeom prst="rect">
            <a:avLst/>
          </a:prstGeom>
        </p:spPr>
      </p:pic>
    </p:spTree>
    <p:extLst>
      <p:ext uri="{BB962C8B-B14F-4D97-AF65-F5344CB8AC3E}">
        <p14:creationId xmlns:p14="http://schemas.microsoft.com/office/powerpoint/2010/main" val="490094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F02F6C8-D73E-1DB4-C40B-464BEDCE0EC9}"/>
              </a:ext>
            </a:extLst>
          </p:cNvPr>
          <p:cNvSpPr txBox="1"/>
          <p:nvPr/>
        </p:nvSpPr>
        <p:spPr>
          <a:xfrm>
            <a:off x="0" y="224882"/>
            <a:ext cx="5724967" cy="553998"/>
          </a:xfrm>
          <a:prstGeom prst="rect">
            <a:avLst/>
          </a:prstGeom>
          <a:noFill/>
        </p:spPr>
        <p:txBody>
          <a:bodyPr wrap="square" rtlCol="0">
            <a:spAutoFit/>
          </a:bodyPr>
          <a:lstStyle/>
          <a:p>
            <a:r>
              <a:rPr lang="en-IN" sz="3000" dirty="0">
                <a:solidFill>
                  <a:srgbClr val="1A86A9"/>
                </a:solidFill>
                <a:latin typeface="Aharoni" panose="02010803020104030203" pitchFamily="2" charset="-79"/>
                <a:cs typeface="Aharoni" panose="02010803020104030203" pitchFamily="2" charset="-79"/>
              </a:rPr>
              <a:t>EXISTING SOLUTION VS US</a:t>
            </a:r>
          </a:p>
        </p:txBody>
      </p:sp>
      <p:graphicFrame>
        <p:nvGraphicFramePr>
          <p:cNvPr id="4" name="Table 3">
            <a:extLst>
              <a:ext uri="{FF2B5EF4-FFF2-40B4-BE49-F238E27FC236}">
                <a16:creationId xmlns:a16="http://schemas.microsoft.com/office/drawing/2014/main" id="{7345AB84-A43A-4ED9-81A6-B10729FF3DA6}"/>
              </a:ext>
            </a:extLst>
          </p:cNvPr>
          <p:cNvGraphicFramePr>
            <a:graphicFrameLocks noGrp="1"/>
          </p:cNvGraphicFramePr>
          <p:nvPr>
            <p:extLst>
              <p:ext uri="{D42A27DB-BD31-4B8C-83A1-F6EECF244321}">
                <p14:modId xmlns:p14="http://schemas.microsoft.com/office/powerpoint/2010/main" val="2970762379"/>
              </p:ext>
            </p:extLst>
          </p:nvPr>
        </p:nvGraphicFramePr>
        <p:xfrm>
          <a:off x="5201264" y="-2"/>
          <a:ext cx="6990736" cy="6858003"/>
        </p:xfrm>
        <a:graphic>
          <a:graphicData uri="http://schemas.openxmlformats.org/drawingml/2006/table">
            <a:tbl>
              <a:tblPr>
                <a:tableStyleId>{08FB837D-C827-4EFA-A057-4D05807E0F7C}</a:tableStyleId>
              </a:tblPr>
              <a:tblGrid>
                <a:gridCol w="3495368">
                  <a:extLst>
                    <a:ext uri="{9D8B030D-6E8A-4147-A177-3AD203B41FA5}">
                      <a16:colId xmlns:a16="http://schemas.microsoft.com/office/drawing/2014/main" val="1862206367"/>
                    </a:ext>
                  </a:extLst>
                </a:gridCol>
                <a:gridCol w="3495368">
                  <a:extLst>
                    <a:ext uri="{9D8B030D-6E8A-4147-A177-3AD203B41FA5}">
                      <a16:colId xmlns:a16="http://schemas.microsoft.com/office/drawing/2014/main" val="1777317602"/>
                    </a:ext>
                  </a:extLst>
                </a:gridCol>
              </a:tblGrid>
              <a:tr h="702207">
                <a:tc>
                  <a:txBody>
                    <a:bodyPr/>
                    <a:lstStyle/>
                    <a:p>
                      <a:r>
                        <a:rPr lang="en-IN" sz="1800" b="1" dirty="0"/>
                        <a:t>EXISTING ONES </a:t>
                      </a:r>
                      <a:r>
                        <a:rPr lang="en-IN" sz="1800" dirty="0"/>
                        <a:t> 🛑</a:t>
                      </a:r>
                    </a:p>
                  </a:txBody>
                  <a:tcPr anchor="ctr"/>
                </a:tc>
                <a:tc>
                  <a:txBody>
                    <a:bodyPr/>
                    <a:lstStyle/>
                    <a:p>
                      <a:r>
                        <a:rPr lang="en-IN" sz="1800" b="1" dirty="0"/>
                        <a:t>WE</a:t>
                      </a:r>
                      <a:r>
                        <a:rPr lang="en-IN" sz="1800" dirty="0"/>
                        <a:t> ✅</a:t>
                      </a:r>
                    </a:p>
                  </a:txBody>
                  <a:tcPr anchor="ctr"/>
                </a:tc>
                <a:extLst>
                  <a:ext uri="{0D108BD9-81ED-4DB2-BD59-A6C34878D82A}">
                    <a16:rowId xmlns:a16="http://schemas.microsoft.com/office/drawing/2014/main" val="2662162200"/>
                  </a:ext>
                </a:extLst>
              </a:tr>
              <a:tr h="704121">
                <a:tc>
                  <a:txBody>
                    <a:bodyPr/>
                    <a:lstStyle/>
                    <a:p>
                      <a:r>
                        <a:rPr lang="en-US" sz="1800" b="1"/>
                        <a:t>Manual Monitoring by Coast Guards</a:t>
                      </a:r>
                      <a:endParaRPr lang="en-US" sz="1800"/>
                    </a:p>
                  </a:txBody>
                  <a:tcPr anchor="ctr"/>
                </a:tc>
                <a:tc>
                  <a:txBody>
                    <a:bodyPr/>
                    <a:lstStyle/>
                    <a:p>
                      <a:r>
                        <a:rPr lang="en-IN" sz="1800" b="1"/>
                        <a:t>Automated GPS-Based Tracking</a:t>
                      </a:r>
                      <a:endParaRPr lang="en-IN" sz="1800"/>
                    </a:p>
                  </a:txBody>
                  <a:tcPr anchor="ctr"/>
                </a:tc>
                <a:extLst>
                  <a:ext uri="{0D108BD9-81ED-4DB2-BD59-A6C34878D82A}">
                    <a16:rowId xmlns:a16="http://schemas.microsoft.com/office/drawing/2014/main" val="818039678"/>
                  </a:ext>
                </a:extLst>
              </a:tr>
              <a:tr h="702207">
                <a:tc>
                  <a:txBody>
                    <a:bodyPr/>
                    <a:lstStyle/>
                    <a:p>
                      <a:r>
                        <a:rPr lang="en-IN" sz="1800" b="1"/>
                        <a:t>Limited Surveillance Coverage</a:t>
                      </a:r>
                      <a:endParaRPr lang="en-IN" sz="1800"/>
                    </a:p>
                  </a:txBody>
                  <a:tcPr anchor="ctr"/>
                </a:tc>
                <a:tc>
                  <a:txBody>
                    <a:bodyPr/>
                    <a:lstStyle/>
                    <a:p>
                      <a:r>
                        <a:rPr lang="en-IN" sz="1800" b="1"/>
                        <a:t>Real-Time Monitoring with LoRa</a:t>
                      </a:r>
                      <a:endParaRPr lang="en-IN" sz="1800"/>
                    </a:p>
                  </a:txBody>
                  <a:tcPr anchor="ctr"/>
                </a:tc>
                <a:extLst>
                  <a:ext uri="{0D108BD9-81ED-4DB2-BD59-A6C34878D82A}">
                    <a16:rowId xmlns:a16="http://schemas.microsoft.com/office/drawing/2014/main" val="1977472068"/>
                  </a:ext>
                </a:extLst>
              </a:tr>
              <a:tr h="1228863">
                <a:tc>
                  <a:txBody>
                    <a:bodyPr/>
                    <a:lstStyle/>
                    <a:p>
                      <a:r>
                        <a:rPr lang="en-IN" sz="1800" b="1"/>
                        <a:t>Delayed Warnings &amp; Communication Gaps</a:t>
                      </a:r>
                      <a:endParaRPr lang="en-IN" sz="1800"/>
                    </a:p>
                  </a:txBody>
                  <a:tcPr anchor="ctr"/>
                </a:tc>
                <a:tc>
                  <a:txBody>
                    <a:bodyPr/>
                    <a:lstStyle/>
                    <a:p>
                      <a:r>
                        <a:rPr lang="en-IN" sz="1800" b="1"/>
                        <a:t>Instant Alerts for Fishermen</a:t>
                      </a:r>
                      <a:endParaRPr lang="en-IN" sz="1800"/>
                    </a:p>
                  </a:txBody>
                  <a:tcPr anchor="ctr"/>
                </a:tc>
                <a:extLst>
                  <a:ext uri="{0D108BD9-81ED-4DB2-BD59-A6C34878D82A}">
                    <a16:rowId xmlns:a16="http://schemas.microsoft.com/office/drawing/2014/main" val="275325726"/>
                  </a:ext>
                </a:extLst>
              </a:tr>
              <a:tr h="704121">
                <a:tc>
                  <a:txBody>
                    <a:bodyPr/>
                    <a:lstStyle/>
                    <a:p>
                      <a:r>
                        <a:rPr lang="en-IN" sz="1800" b="1"/>
                        <a:t>No Reliable Offshore Connectivity</a:t>
                      </a:r>
                      <a:endParaRPr lang="en-IN" sz="1800"/>
                    </a:p>
                  </a:txBody>
                  <a:tcPr anchor="ctr"/>
                </a:tc>
                <a:tc>
                  <a:txBody>
                    <a:bodyPr/>
                    <a:lstStyle/>
                    <a:p>
                      <a:r>
                        <a:rPr lang="en-IN" sz="1800" b="1"/>
                        <a:t>LoRa-Based Data Transmission</a:t>
                      </a:r>
                      <a:endParaRPr lang="en-IN" sz="1800"/>
                    </a:p>
                  </a:txBody>
                  <a:tcPr anchor="ctr"/>
                </a:tc>
                <a:extLst>
                  <a:ext uri="{0D108BD9-81ED-4DB2-BD59-A6C34878D82A}">
                    <a16:rowId xmlns:a16="http://schemas.microsoft.com/office/drawing/2014/main" val="2701554292"/>
                  </a:ext>
                </a:extLst>
              </a:tr>
              <a:tr h="704121">
                <a:tc>
                  <a:txBody>
                    <a:bodyPr/>
                    <a:lstStyle/>
                    <a:p>
                      <a:r>
                        <a:rPr lang="en-US" sz="1800" b="1"/>
                        <a:t>Risk of Accidental Border Crossings</a:t>
                      </a:r>
                      <a:endParaRPr lang="en-US" sz="1800"/>
                    </a:p>
                  </a:txBody>
                  <a:tcPr anchor="ctr"/>
                </a:tc>
                <a:tc>
                  <a:txBody>
                    <a:bodyPr/>
                    <a:lstStyle/>
                    <a:p>
                      <a:r>
                        <a:rPr lang="en-IN" sz="1800" b="1"/>
                        <a:t>Automated Boundary Violation Detection</a:t>
                      </a:r>
                      <a:endParaRPr lang="en-IN" sz="1800"/>
                    </a:p>
                  </a:txBody>
                  <a:tcPr anchor="ctr"/>
                </a:tc>
                <a:extLst>
                  <a:ext uri="{0D108BD9-81ED-4DB2-BD59-A6C34878D82A}">
                    <a16:rowId xmlns:a16="http://schemas.microsoft.com/office/drawing/2014/main" val="1160947404"/>
                  </a:ext>
                </a:extLst>
              </a:tr>
              <a:tr h="704121">
                <a:tc>
                  <a:txBody>
                    <a:bodyPr/>
                    <a:lstStyle/>
                    <a:p>
                      <a:r>
                        <a:rPr lang="en-IN" sz="1800" b="1"/>
                        <a:t>No Digital Records for Disputes</a:t>
                      </a:r>
                      <a:endParaRPr lang="en-IN" sz="1800"/>
                    </a:p>
                  </a:txBody>
                  <a:tcPr anchor="ctr"/>
                </a:tc>
                <a:tc>
                  <a:txBody>
                    <a:bodyPr/>
                    <a:lstStyle/>
                    <a:p>
                      <a:r>
                        <a:rPr lang="en-US" sz="1800" b="1"/>
                        <a:t>Data Logging for Compliance &amp; Security</a:t>
                      </a:r>
                      <a:endParaRPr lang="en-US" sz="1800"/>
                    </a:p>
                  </a:txBody>
                  <a:tcPr anchor="ctr"/>
                </a:tc>
                <a:extLst>
                  <a:ext uri="{0D108BD9-81ED-4DB2-BD59-A6C34878D82A}">
                    <a16:rowId xmlns:a16="http://schemas.microsoft.com/office/drawing/2014/main" val="4123457765"/>
                  </a:ext>
                </a:extLst>
              </a:tr>
              <a:tr h="704121">
                <a:tc>
                  <a:txBody>
                    <a:bodyPr/>
                    <a:lstStyle/>
                    <a:p>
                      <a:r>
                        <a:rPr lang="en-IN" sz="1800" b="1"/>
                        <a:t>Dependence on Verbal Warnings</a:t>
                      </a:r>
                      <a:endParaRPr lang="en-IN" sz="1800"/>
                    </a:p>
                  </a:txBody>
                  <a:tcPr anchor="ctr"/>
                </a:tc>
                <a:tc>
                  <a:txBody>
                    <a:bodyPr/>
                    <a:lstStyle/>
                    <a:p>
                      <a:r>
                        <a:rPr lang="en-IN" sz="1800" b="1"/>
                        <a:t>Mobile &amp; Onboard Notification System</a:t>
                      </a:r>
                      <a:endParaRPr lang="en-IN" sz="1800"/>
                    </a:p>
                  </a:txBody>
                  <a:tcPr anchor="ctr"/>
                </a:tc>
                <a:extLst>
                  <a:ext uri="{0D108BD9-81ED-4DB2-BD59-A6C34878D82A}">
                    <a16:rowId xmlns:a16="http://schemas.microsoft.com/office/drawing/2014/main" val="1263607464"/>
                  </a:ext>
                </a:extLst>
              </a:tr>
              <a:tr h="704121">
                <a:tc>
                  <a:txBody>
                    <a:bodyPr/>
                    <a:lstStyle/>
                    <a:p>
                      <a:r>
                        <a:rPr lang="en-IN" sz="1800" b="1"/>
                        <a:t>Potential Diplomatic Conflicts</a:t>
                      </a:r>
                      <a:endParaRPr lang="en-IN" sz="1800"/>
                    </a:p>
                  </a:txBody>
                  <a:tcPr anchor="ctr"/>
                </a:tc>
                <a:tc>
                  <a:txBody>
                    <a:bodyPr/>
                    <a:lstStyle/>
                    <a:p>
                      <a:r>
                        <a:rPr lang="en-IN" sz="1800" b="1" dirty="0"/>
                        <a:t>Proactive Prevention &amp; Fishermen Safety</a:t>
                      </a:r>
                      <a:endParaRPr lang="en-IN" sz="1800" dirty="0"/>
                    </a:p>
                  </a:txBody>
                  <a:tcPr anchor="ctr"/>
                </a:tc>
                <a:extLst>
                  <a:ext uri="{0D108BD9-81ED-4DB2-BD59-A6C34878D82A}">
                    <a16:rowId xmlns:a16="http://schemas.microsoft.com/office/drawing/2014/main" val="4249396585"/>
                  </a:ext>
                </a:extLst>
              </a:tr>
            </a:tbl>
          </a:graphicData>
        </a:graphic>
      </p:graphicFrame>
      <p:pic>
        <p:nvPicPr>
          <p:cNvPr id="4101" name="Picture 5">
            <a:extLst>
              <a:ext uri="{FF2B5EF4-FFF2-40B4-BE49-F238E27FC236}">
                <a16:creationId xmlns:a16="http://schemas.microsoft.com/office/drawing/2014/main" id="{54996189-419F-E5C0-BF42-A140CD420E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310" y="1426905"/>
            <a:ext cx="5417574" cy="40041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8734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37FB0A-A385-A0D4-56F9-348A5046D219}"/>
              </a:ext>
            </a:extLst>
          </p:cNvPr>
          <p:cNvSpPr txBox="1"/>
          <p:nvPr/>
        </p:nvSpPr>
        <p:spPr>
          <a:xfrm>
            <a:off x="3392129" y="147483"/>
            <a:ext cx="5555226" cy="630942"/>
          </a:xfrm>
          <a:prstGeom prst="rect">
            <a:avLst/>
          </a:prstGeom>
          <a:noFill/>
        </p:spPr>
        <p:txBody>
          <a:bodyPr wrap="square" rtlCol="0">
            <a:spAutoFit/>
          </a:bodyPr>
          <a:lstStyle/>
          <a:p>
            <a:r>
              <a:rPr lang="en-IN" sz="3500" dirty="0">
                <a:solidFill>
                  <a:srgbClr val="1A86A9"/>
                </a:solidFill>
                <a:latin typeface="Aharoni" panose="02010803020104030203" pitchFamily="2" charset="-79"/>
                <a:cs typeface="Aharoni" panose="02010803020104030203" pitchFamily="2" charset="-79"/>
              </a:rPr>
              <a:t>ARCHITECTURE DIAGRAM</a:t>
            </a:r>
          </a:p>
        </p:txBody>
      </p:sp>
      <p:sp>
        <p:nvSpPr>
          <p:cNvPr id="5" name="Rectangle 4">
            <a:extLst>
              <a:ext uri="{FF2B5EF4-FFF2-40B4-BE49-F238E27FC236}">
                <a16:creationId xmlns:a16="http://schemas.microsoft.com/office/drawing/2014/main" id="{5953A9B3-71F7-1C4F-88DB-086B5BD99C41}"/>
              </a:ext>
            </a:extLst>
          </p:cNvPr>
          <p:cNvSpPr/>
          <p:nvPr/>
        </p:nvSpPr>
        <p:spPr>
          <a:xfrm>
            <a:off x="648929" y="1238865"/>
            <a:ext cx="10717161" cy="50439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E29DD2CA-3E12-02B5-27C8-427EB9C3CEFB}"/>
              </a:ext>
            </a:extLst>
          </p:cNvPr>
          <p:cNvPicPr>
            <a:picLocks noChangeAspect="1"/>
          </p:cNvPicPr>
          <p:nvPr/>
        </p:nvPicPr>
        <p:blipFill>
          <a:blip r:embed="rId2"/>
          <a:stretch>
            <a:fillRect/>
          </a:stretch>
        </p:blipFill>
        <p:spPr>
          <a:xfrm>
            <a:off x="825910" y="1696241"/>
            <a:ext cx="10323311" cy="3922894"/>
          </a:xfrm>
          <a:prstGeom prst="rect">
            <a:avLst/>
          </a:prstGeom>
        </p:spPr>
      </p:pic>
    </p:spTree>
    <p:extLst>
      <p:ext uri="{BB962C8B-B14F-4D97-AF65-F5344CB8AC3E}">
        <p14:creationId xmlns:p14="http://schemas.microsoft.com/office/powerpoint/2010/main" val="18195805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B58247-2B9C-2EEC-FC23-24D5BCA61709}"/>
              </a:ext>
            </a:extLst>
          </p:cNvPr>
          <p:cNvSpPr txBox="1"/>
          <p:nvPr/>
        </p:nvSpPr>
        <p:spPr>
          <a:xfrm rot="5400000">
            <a:off x="9104137" y="2649022"/>
            <a:ext cx="5186753" cy="861774"/>
          </a:xfrm>
          <a:prstGeom prst="rect">
            <a:avLst/>
          </a:prstGeom>
          <a:noFill/>
        </p:spPr>
        <p:txBody>
          <a:bodyPr wrap="square" rtlCol="0">
            <a:spAutoFit/>
          </a:bodyPr>
          <a:lstStyle/>
          <a:p>
            <a:pPr algn="ctr"/>
            <a:r>
              <a:rPr lang="en-US" sz="5000" dirty="0">
                <a:latin typeface="Aharoni" panose="02010803020104030203" pitchFamily="2" charset="-79"/>
                <a:cs typeface="Aharoni" panose="02010803020104030203" pitchFamily="2" charset="-79"/>
              </a:rPr>
              <a:t>NAUTI-GUARD</a:t>
            </a:r>
            <a:endParaRPr lang="en-IN" sz="5000" dirty="0">
              <a:latin typeface="Aharoni" panose="02010803020104030203" pitchFamily="2" charset="-79"/>
              <a:cs typeface="Aharoni" panose="02010803020104030203" pitchFamily="2" charset="-79"/>
            </a:endParaRPr>
          </a:p>
        </p:txBody>
      </p:sp>
      <p:sp>
        <p:nvSpPr>
          <p:cNvPr id="4" name="TextBox 3">
            <a:extLst>
              <a:ext uri="{FF2B5EF4-FFF2-40B4-BE49-F238E27FC236}">
                <a16:creationId xmlns:a16="http://schemas.microsoft.com/office/drawing/2014/main" id="{9088F750-52FE-1672-F323-306E23443729}"/>
              </a:ext>
            </a:extLst>
          </p:cNvPr>
          <p:cNvSpPr txBox="1"/>
          <p:nvPr/>
        </p:nvSpPr>
        <p:spPr>
          <a:xfrm>
            <a:off x="680157" y="812824"/>
            <a:ext cx="1531525" cy="369332"/>
          </a:xfrm>
          <a:prstGeom prst="rect">
            <a:avLst/>
          </a:prstGeom>
          <a:noFill/>
        </p:spPr>
        <p:txBody>
          <a:bodyPr wrap="square" rtlCol="0">
            <a:spAutoFit/>
          </a:bodyPr>
          <a:lstStyle/>
          <a:p>
            <a:r>
              <a:rPr lang="en-US" b="1" dirty="0">
                <a:solidFill>
                  <a:schemeClr val="accent1">
                    <a:lumMod val="60000"/>
                    <a:lumOff val="40000"/>
                  </a:schemeClr>
                </a:solidFill>
              </a:rPr>
              <a:t>HARDWARE</a:t>
            </a:r>
            <a:endParaRPr lang="en-IN" b="1" dirty="0">
              <a:solidFill>
                <a:schemeClr val="accent1">
                  <a:lumMod val="60000"/>
                  <a:lumOff val="40000"/>
                </a:schemeClr>
              </a:solidFill>
            </a:endParaRPr>
          </a:p>
        </p:txBody>
      </p:sp>
      <p:sp>
        <p:nvSpPr>
          <p:cNvPr id="7" name="TextBox 6">
            <a:extLst>
              <a:ext uri="{FF2B5EF4-FFF2-40B4-BE49-F238E27FC236}">
                <a16:creationId xmlns:a16="http://schemas.microsoft.com/office/drawing/2014/main" id="{3D29645C-F468-A405-6493-6BF9FFB06FC0}"/>
              </a:ext>
            </a:extLst>
          </p:cNvPr>
          <p:cNvSpPr txBox="1"/>
          <p:nvPr/>
        </p:nvSpPr>
        <p:spPr>
          <a:xfrm>
            <a:off x="3057069" y="2336360"/>
            <a:ext cx="1550479" cy="369332"/>
          </a:xfrm>
          <a:prstGeom prst="rect">
            <a:avLst/>
          </a:prstGeom>
          <a:noFill/>
        </p:spPr>
        <p:txBody>
          <a:bodyPr wrap="square" rtlCol="0">
            <a:spAutoFit/>
          </a:bodyPr>
          <a:lstStyle/>
          <a:p>
            <a:r>
              <a:rPr lang="en-IN" b="1" dirty="0">
                <a:solidFill>
                  <a:schemeClr val="accent1">
                    <a:lumMod val="60000"/>
                    <a:lumOff val="40000"/>
                  </a:schemeClr>
                </a:solidFill>
              </a:rPr>
              <a:t>SOFTWARE</a:t>
            </a:r>
          </a:p>
        </p:txBody>
      </p:sp>
      <p:sp>
        <p:nvSpPr>
          <p:cNvPr id="9" name="Rectangle 8" descr="Checkmark">
            <a:extLst>
              <a:ext uri="{FF2B5EF4-FFF2-40B4-BE49-F238E27FC236}">
                <a16:creationId xmlns:a16="http://schemas.microsoft.com/office/drawing/2014/main" id="{60DC8759-61DA-5CBB-C43C-7A1F65F8E568}"/>
              </a:ext>
            </a:extLst>
          </p:cNvPr>
          <p:cNvSpPr/>
          <p:nvPr/>
        </p:nvSpPr>
        <p:spPr>
          <a:xfrm>
            <a:off x="5013744" y="2946728"/>
            <a:ext cx="639060" cy="714245"/>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IN" dirty="0"/>
          </a:p>
        </p:txBody>
      </p:sp>
      <p:sp>
        <p:nvSpPr>
          <p:cNvPr id="11" name="TextBox 10">
            <a:extLst>
              <a:ext uri="{FF2B5EF4-FFF2-40B4-BE49-F238E27FC236}">
                <a16:creationId xmlns:a16="http://schemas.microsoft.com/office/drawing/2014/main" id="{598A6471-B05E-0B29-2B5D-D6E73DDD7462}"/>
              </a:ext>
            </a:extLst>
          </p:cNvPr>
          <p:cNvSpPr txBox="1"/>
          <p:nvPr/>
        </p:nvSpPr>
        <p:spPr>
          <a:xfrm>
            <a:off x="5602696" y="3017439"/>
            <a:ext cx="1755289" cy="646331"/>
          </a:xfrm>
          <a:prstGeom prst="rect">
            <a:avLst/>
          </a:prstGeom>
          <a:noFill/>
        </p:spPr>
        <p:txBody>
          <a:bodyPr wrap="none" rtlCol="0">
            <a:spAutoFit/>
          </a:bodyPr>
          <a:lstStyle/>
          <a:p>
            <a:r>
              <a:rPr lang="en-IN" b="1" dirty="0">
                <a:solidFill>
                  <a:schemeClr val="accent1">
                    <a:lumMod val="60000"/>
                    <a:lumOff val="40000"/>
                  </a:schemeClr>
                </a:solidFill>
              </a:rPr>
              <a:t>FEASIBILTY</a:t>
            </a:r>
            <a:r>
              <a:rPr lang="en-IN" b="1" dirty="0"/>
              <a:t> </a:t>
            </a:r>
            <a:r>
              <a:rPr lang="en-IN" b="1" dirty="0">
                <a:solidFill>
                  <a:schemeClr val="accent1">
                    <a:lumMod val="60000"/>
                    <a:lumOff val="40000"/>
                  </a:schemeClr>
                </a:solidFill>
              </a:rPr>
              <a:t>&amp;</a:t>
            </a:r>
          </a:p>
          <a:p>
            <a:r>
              <a:rPr lang="en-IN" b="1" dirty="0">
                <a:solidFill>
                  <a:schemeClr val="accent1">
                    <a:lumMod val="60000"/>
                    <a:lumOff val="40000"/>
                  </a:schemeClr>
                </a:solidFill>
              </a:rPr>
              <a:t>VIABILITY</a:t>
            </a:r>
          </a:p>
        </p:txBody>
      </p:sp>
      <p:sp>
        <p:nvSpPr>
          <p:cNvPr id="12" name="TextBox 11">
            <a:extLst>
              <a:ext uri="{FF2B5EF4-FFF2-40B4-BE49-F238E27FC236}">
                <a16:creationId xmlns:a16="http://schemas.microsoft.com/office/drawing/2014/main" id="{A2C534A7-8E71-DD64-A391-E5D058899B56}"/>
              </a:ext>
            </a:extLst>
          </p:cNvPr>
          <p:cNvSpPr txBox="1"/>
          <p:nvPr/>
        </p:nvSpPr>
        <p:spPr>
          <a:xfrm>
            <a:off x="5040800" y="3671643"/>
            <a:ext cx="2569091" cy="3139321"/>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Britannic Bold" panose="020B0903060703020204" pitchFamily="34" charset="0"/>
              </a:rPr>
              <a:t>Technically Feasible</a:t>
            </a:r>
          </a:p>
          <a:p>
            <a:r>
              <a:rPr lang="en-IN" dirty="0">
                <a:latin typeface="Britannic Bold" panose="020B0903060703020204" pitchFamily="34" charset="0"/>
              </a:rPr>
              <a:t>      &amp; Supporting</a:t>
            </a:r>
          </a:p>
          <a:p>
            <a:pPr marL="285750" indent="-285750">
              <a:buFont typeface="Arial" panose="020B0604020202020204" pitchFamily="34" charset="0"/>
              <a:buChar char="•"/>
            </a:pPr>
            <a:r>
              <a:rPr lang="en-IN" dirty="0">
                <a:latin typeface="Britannic Bold" panose="020B0903060703020204" pitchFamily="34" charset="0"/>
              </a:rPr>
              <a:t>Connectivity &amp; Precision </a:t>
            </a:r>
          </a:p>
          <a:p>
            <a:pPr marL="285750" indent="-285750">
              <a:buFont typeface="Arial" panose="020B0604020202020204" pitchFamily="34" charset="0"/>
              <a:buChar char="•"/>
            </a:pPr>
            <a:r>
              <a:rPr lang="en-IN" dirty="0">
                <a:latin typeface="Britannic Bold" panose="020B0903060703020204" pitchFamily="34" charset="0"/>
              </a:rPr>
              <a:t>Meeting government </a:t>
            </a:r>
          </a:p>
          <a:p>
            <a:r>
              <a:rPr lang="en-IN" dirty="0">
                <a:latin typeface="Britannic Bold" panose="020B0903060703020204" pitchFamily="34" charset="0"/>
              </a:rPr>
              <a:t>     Standards</a:t>
            </a:r>
          </a:p>
          <a:p>
            <a:pPr marL="285750" indent="-285750">
              <a:buFont typeface="Arial" panose="020B0604020202020204" pitchFamily="34" charset="0"/>
              <a:buChar char="•"/>
            </a:pPr>
            <a:r>
              <a:rPr lang="en-IN" dirty="0">
                <a:latin typeface="Britannic Bold" panose="020B0903060703020204" pitchFamily="34" charset="0"/>
              </a:rPr>
              <a:t>Material &amp; Design</a:t>
            </a:r>
          </a:p>
          <a:p>
            <a:pPr marL="285750" indent="-285750">
              <a:buFont typeface="Arial" panose="020B0604020202020204" pitchFamily="34" charset="0"/>
              <a:buChar char="•"/>
            </a:pPr>
            <a:r>
              <a:rPr lang="en-IN" dirty="0">
                <a:latin typeface="Britannic Bold" panose="020B0903060703020204" pitchFamily="34" charset="0"/>
              </a:rPr>
              <a:t>Market Demand</a:t>
            </a:r>
          </a:p>
          <a:p>
            <a:pPr marL="285750" indent="-285750">
              <a:buFont typeface="Arial" panose="020B0604020202020204" pitchFamily="34" charset="0"/>
              <a:buChar char="•"/>
            </a:pPr>
            <a:r>
              <a:rPr lang="en-IN" dirty="0">
                <a:latin typeface="Britannic Bold" panose="020B0903060703020204" pitchFamily="34" charset="0"/>
              </a:rPr>
              <a:t>MEETING UN SUSTAINABLE GOALS</a:t>
            </a:r>
          </a:p>
          <a:p>
            <a:r>
              <a:rPr lang="en-IN" dirty="0">
                <a:latin typeface="Britannic Bold" panose="020B0903060703020204" pitchFamily="34" charset="0"/>
              </a:rPr>
              <a:t>     8,9,14,16</a:t>
            </a:r>
          </a:p>
        </p:txBody>
      </p:sp>
      <p:pic>
        <p:nvPicPr>
          <p:cNvPr id="1026" name="Picture 2">
            <a:extLst>
              <a:ext uri="{FF2B5EF4-FFF2-40B4-BE49-F238E27FC236}">
                <a16:creationId xmlns:a16="http://schemas.microsoft.com/office/drawing/2014/main" id="{FB7016F7-EBBB-F93E-70B5-EA9A0FAEAE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84742" y="3660973"/>
            <a:ext cx="707887" cy="70788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C02E6AF7-64D9-A11C-E4CA-4A974E475A6C}"/>
              </a:ext>
            </a:extLst>
          </p:cNvPr>
          <p:cNvSpPr txBox="1"/>
          <p:nvPr/>
        </p:nvSpPr>
        <p:spPr>
          <a:xfrm>
            <a:off x="8202889" y="3921399"/>
            <a:ext cx="1762277" cy="369332"/>
          </a:xfrm>
          <a:prstGeom prst="rect">
            <a:avLst/>
          </a:prstGeom>
          <a:noFill/>
        </p:spPr>
        <p:txBody>
          <a:bodyPr wrap="none" rtlCol="0">
            <a:spAutoFit/>
          </a:bodyPr>
          <a:lstStyle/>
          <a:p>
            <a:r>
              <a:rPr lang="en-IN" b="1" dirty="0">
                <a:solidFill>
                  <a:schemeClr val="accent1">
                    <a:lumMod val="60000"/>
                    <a:lumOff val="40000"/>
                  </a:schemeClr>
                </a:solidFill>
              </a:rPr>
              <a:t>TECH STACKS</a:t>
            </a:r>
          </a:p>
        </p:txBody>
      </p:sp>
      <p:sp>
        <p:nvSpPr>
          <p:cNvPr id="14" name="TextBox 13">
            <a:extLst>
              <a:ext uri="{FF2B5EF4-FFF2-40B4-BE49-F238E27FC236}">
                <a16:creationId xmlns:a16="http://schemas.microsoft.com/office/drawing/2014/main" id="{8EC669B3-6863-5117-BFA1-B14838702CE1}"/>
              </a:ext>
            </a:extLst>
          </p:cNvPr>
          <p:cNvSpPr txBox="1"/>
          <p:nvPr/>
        </p:nvSpPr>
        <p:spPr>
          <a:xfrm>
            <a:off x="7750273" y="4457015"/>
            <a:ext cx="1378904" cy="1754326"/>
          </a:xfrm>
          <a:prstGeom prst="rect">
            <a:avLst/>
          </a:prstGeom>
          <a:noFill/>
        </p:spPr>
        <p:txBody>
          <a:bodyPr wrap="none" rtlCol="0">
            <a:spAutoFit/>
          </a:bodyPr>
          <a:lstStyle/>
          <a:p>
            <a:pPr marL="285750" indent="-285750">
              <a:buFont typeface="Arial" panose="020B0604020202020204" pitchFamily="34" charset="0"/>
              <a:buChar char="•"/>
            </a:pPr>
            <a:r>
              <a:rPr lang="en-IN" dirty="0">
                <a:latin typeface="Britannic Bold" panose="020B0903060703020204" pitchFamily="34" charset="0"/>
              </a:rPr>
              <a:t>Flutter</a:t>
            </a:r>
          </a:p>
          <a:p>
            <a:pPr marL="285750" indent="-285750">
              <a:buFont typeface="Arial" panose="020B0604020202020204" pitchFamily="34" charset="0"/>
              <a:buChar char="•"/>
            </a:pPr>
            <a:r>
              <a:rPr lang="en-IN" dirty="0">
                <a:latin typeface="Britannic Bold" panose="020B0903060703020204" pitchFamily="34" charset="0"/>
              </a:rPr>
              <a:t>Folium</a:t>
            </a:r>
          </a:p>
          <a:p>
            <a:pPr marL="285750" indent="-285750">
              <a:buFont typeface="Arial" panose="020B0604020202020204" pitchFamily="34" charset="0"/>
              <a:buChar char="•"/>
            </a:pPr>
            <a:r>
              <a:rPr lang="en-IN" dirty="0">
                <a:latin typeface="Britannic Bold" panose="020B0903060703020204" pitchFamily="34" charset="0"/>
              </a:rPr>
              <a:t>FTP</a:t>
            </a:r>
          </a:p>
          <a:p>
            <a:pPr marL="285750" indent="-285750">
              <a:buFont typeface="Arial" panose="020B0604020202020204" pitchFamily="34" charset="0"/>
              <a:buChar char="•"/>
            </a:pPr>
            <a:r>
              <a:rPr lang="en-IN" dirty="0" err="1">
                <a:latin typeface="Britannic Bold" panose="020B0903060703020204" pitchFamily="34" charset="0"/>
              </a:rPr>
              <a:t>LoraWAN</a:t>
            </a:r>
            <a:endParaRPr lang="en-IN" dirty="0">
              <a:latin typeface="Britannic Bold" panose="020B0903060703020204" pitchFamily="34" charset="0"/>
            </a:endParaRPr>
          </a:p>
          <a:p>
            <a:pPr marL="285750" indent="-285750">
              <a:buFont typeface="Arial" panose="020B0604020202020204" pitchFamily="34" charset="0"/>
              <a:buChar char="•"/>
            </a:pPr>
            <a:r>
              <a:rPr lang="en-IN" dirty="0">
                <a:latin typeface="Britannic Bold" panose="020B0903060703020204" pitchFamily="34" charset="0"/>
              </a:rPr>
              <a:t>Firebase</a:t>
            </a:r>
          </a:p>
          <a:p>
            <a:pPr marL="285750" indent="-285750">
              <a:buFont typeface="Arial" panose="020B0604020202020204" pitchFamily="34" charset="0"/>
              <a:buChar char="•"/>
            </a:pPr>
            <a:r>
              <a:rPr lang="en-IN" dirty="0">
                <a:latin typeface="Britannic Bold" panose="020B0903060703020204" pitchFamily="34" charset="0"/>
              </a:rPr>
              <a:t>IDE</a:t>
            </a:r>
          </a:p>
        </p:txBody>
      </p:sp>
      <p:pic>
        <p:nvPicPr>
          <p:cNvPr id="1030" name="Picture 6">
            <a:extLst>
              <a:ext uri="{FF2B5EF4-FFF2-40B4-BE49-F238E27FC236}">
                <a16:creationId xmlns:a16="http://schemas.microsoft.com/office/drawing/2014/main" id="{8A9EDEF6-A601-CDC1-0E7D-F7420791B46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20012" y="5653589"/>
            <a:ext cx="369332" cy="36933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AAEA9AB2-ADAD-48B2-6C05-5D547900E8D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20012" y="5242496"/>
            <a:ext cx="369332" cy="369332"/>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4C5CD7DD-5B45-9F43-7FA8-827026F632CB}"/>
              </a:ext>
            </a:extLst>
          </p:cNvPr>
          <p:cNvPicPr>
            <a:picLocks noChangeAspect="1"/>
          </p:cNvPicPr>
          <p:nvPr/>
        </p:nvPicPr>
        <p:blipFill rotWithShape="1">
          <a:blip r:embed="rId8"/>
          <a:srcRect l="5853" t="5986" r="5010" b="6272"/>
          <a:stretch/>
        </p:blipFill>
        <p:spPr>
          <a:xfrm flipV="1">
            <a:off x="9220012" y="4495472"/>
            <a:ext cx="325311" cy="320218"/>
          </a:xfrm>
          <a:prstGeom prst="rect">
            <a:avLst/>
          </a:prstGeom>
        </p:spPr>
      </p:pic>
      <p:pic>
        <p:nvPicPr>
          <p:cNvPr id="38" name="Picture 37">
            <a:extLst>
              <a:ext uri="{FF2B5EF4-FFF2-40B4-BE49-F238E27FC236}">
                <a16:creationId xmlns:a16="http://schemas.microsoft.com/office/drawing/2014/main" id="{58162C60-AD9D-5740-DB58-E9F006CAA9A7}"/>
              </a:ext>
            </a:extLst>
          </p:cNvPr>
          <p:cNvPicPr>
            <a:picLocks noChangeAspect="1"/>
          </p:cNvPicPr>
          <p:nvPr/>
        </p:nvPicPr>
        <p:blipFill>
          <a:blip r:embed="rId9"/>
          <a:stretch>
            <a:fillRect/>
          </a:stretch>
        </p:blipFill>
        <p:spPr>
          <a:xfrm rot="5400000" flipV="1">
            <a:off x="10174626" y="3772692"/>
            <a:ext cx="561596" cy="350049"/>
          </a:xfrm>
          <a:prstGeom prst="rect">
            <a:avLst/>
          </a:prstGeom>
        </p:spPr>
      </p:pic>
      <p:pic>
        <p:nvPicPr>
          <p:cNvPr id="44" name="Picture 43">
            <a:extLst>
              <a:ext uri="{FF2B5EF4-FFF2-40B4-BE49-F238E27FC236}">
                <a16:creationId xmlns:a16="http://schemas.microsoft.com/office/drawing/2014/main" id="{75F6EB41-3740-9331-284D-7A8D346A04A7}"/>
              </a:ext>
            </a:extLst>
          </p:cNvPr>
          <p:cNvPicPr>
            <a:picLocks noChangeAspect="1"/>
          </p:cNvPicPr>
          <p:nvPr/>
        </p:nvPicPr>
        <p:blipFill rotWithShape="1">
          <a:blip r:embed="rId9"/>
          <a:srcRect l="79387" t="1" b="-27352"/>
          <a:stretch/>
        </p:blipFill>
        <p:spPr>
          <a:xfrm rot="10800000" flipV="1">
            <a:off x="9926236" y="3983612"/>
            <a:ext cx="130835" cy="445794"/>
          </a:xfrm>
          <a:prstGeom prst="rect">
            <a:avLst/>
          </a:prstGeom>
        </p:spPr>
      </p:pic>
      <p:cxnSp>
        <p:nvCxnSpPr>
          <p:cNvPr id="46" name="Straight Connector 45">
            <a:extLst>
              <a:ext uri="{FF2B5EF4-FFF2-40B4-BE49-F238E27FC236}">
                <a16:creationId xmlns:a16="http://schemas.microsoft.com/office/drawing/2014/main" id="{95731628-4049-E7FE-733A-F83CB73AD5B8}"/>
              </a:ext>
            </a:extLst>
          </p:cNvPr>
          <p:cNvCxnSpPr>
            <a:cxnSpLocks/>
          </p:cNvCxnSpPr>
          <p:nvPr/>
        </p:nvCxnSpPr>
        <p:spPr>
          <a:xfrm flipH="1">
            <a:off x="10032860" y="4196028"/>
            <a:ext cx="422564"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49" name="Straight Connector 48">
            <a:extLst>
              <a:ext uri="{FF2B5EF4-FFF2-40B4-BE49-F238E27FC236}">
                <a16:creationId xmlns:a16="http://schemas.microsoft.com/office/drawing/2014/main" id="{77D08DC3-C2B1-238C-2728-F3E51E93DFDA}"/>
              </a:ext>
            </a:extLst>
          </p:cNvPr>
          <p:cNvCxnSpPr>
            <a:cxnSpLocks/>
          </p:cNvCxnSpPr>
          <p:nvPr/>
        </p:nvCxnSpPr>
        <p:spPr>
          <a:xfrm flipH="1">
            <a:off x="10502760" y="3666001"/>
            <a:ext cx="846405" cy="0"/>
          </a:xfrm>
          <a:prstGeom prst="line">
            <a:avLst/>
          </a:prstGeom>
        </p:spPr>
        <p:style>
          <a:lnRef idx="3">
            <a:schemeClr val="accent1"/>
          </a:lnRef>
          <a:fillRef idx="0">
            <a:schemeClr val="accent1"/>
          </a:fillRef>
          <a:effectRef idx="2">
            <a:schemeClr val="accent1"/>
          </a:effectRef>
          <a:fontRef idx="minor">
            <a:schemeClr val="tx1"/>
          </a:fontRef>
        </p:style>
      </p:cxnSp>
      <p:grpSp>
        <p:nvGrpSpPr>
          <p:cNvPr id="58" name="Group 57">
            <a:extLst>
              <a:ext uri="{FF2B5EF4-FFF2-40B4-BE49-F238E27FC236}">
                <a16:creationId xmlns:a16="http://schemas.microsoft.com/office/drawing/2014/main" id="{2A8A1DCC-61CB-3B0F-BA54-72093D832E1A}"/>
              </a:ext>
            </a:extLst>
          </p:cNvPr>
          <p:cNvGrpSpPr/>
          <p:nvPr/>
        </p:nvGrpSpPr>
        <p:grpSpPr>
          <a:xfrm flipV="1">
            <a:off x="7780325" y="1015990"/>
            <a:ext cx="1215107" cy="858768"/>
            <a:chOff x="10185261" y="2817852"/>
            <a:chExt cx="1215107" cy="562514"/>
          </a:xfrm>
        </p:grpSpPr>
        <p:pic>
          <p:nvPicPr>
            <p:cNvPr id="51" name="Picture 50">
              <a:extLst>
                <a:ext uri="{FF2B5EF4-FFF2-40B4-BE49-F238E27FC236}">
                  <a16:creationId xmlns:a16="http://schemas.microsoft.com/office/drawing/2014/main" id="{0FD7E511-28E9-8DAE-457E-7912C9D7270A}"/>
                </a:ext>
              </a:extLst>
            </p:cNvPr>
            <p:cNvPicPr>
              <a:picLocks noChangeAspect="1"/>
            </p:cNvPicPr>
            <p:nvPr/>
          </p:nvPicPr>
          <p:blipFill>
            <a:blip r:embed="rId9"/>
            <a:stretch>
              <a:fillRect/>
            </a:stretch>
          </p:blipFill>
          <p:spPr>
            <a:xfrm rot="5400000" flipV="1">
              <a:off x="10327027" y="2924543"/>
              <a:ext cx="561596" cy="350049"/>
            </a:xfrm>
            <a:prstGeom prst="rect">
              <a:avLst/>
            </a:prstGeom>
          </p:spPr>
        </p:pic>
        <p:cxnSp>
          <p:nvCxnSpPr>
            <p:cNvPr id="53" name="Straight Connector 52">
              <a:extLst>
                <a:ext uri="{FF2B5EF4-FFF2-40B4-BE49-F238E27FC236}">
                  <a16:creationId xmlns:a16="http://schemas.microsoft.com/office/drawing/2014/main" id="{35220C2F-4A60-6F2D-FCAD-E95BE43A6898}"/>
                </a:ext>
              </a:extLst>
            </p:cNvPr>
            <p:cNvCxnSpPr>
              <a:cxnSpLocks/>
            </p:cNvCxnSpPr>
            <p:nvPr/>
          </p:nvCxnSpPr>
          <p:spPr>
            <a:xfrm flipH="1">
              <a:off x="10185261" y="3347879"/>
              <a:ext cx="422564"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54" name="Straight Connector 53">
              <a:extLst>
                <a:ext uri="{FF2B5EF4-FFF2-40B4-BE49-F238E27FC236}">
                  <a16:creationId xmlns:a16="http://schemas.microsoft.com/office/drawing/2014/main" id="{DA673F4C-8AAA-4302-8293-8B0A5AA0BB32}"/>
                </a:ext>
              </a:extLst>
            </p:cNvPr>
            <p:cNvCxnSpPr>
              <a:cxnSpLocks/>
            </p:cNvCxnSpPr>
            <p:nvPr/>
          </p:nvCxnSpPr>
          <p:spPr>
            <a:xfrm flipH="1">
              <a:off x="10655161" y="2817852"/>
              <a:ext cx="745207" cy="0"/>
            </a:xfrm>
            <a:prstGeom prst="line">
              <a:avLst/>
            </a:prstGeom>
          </p:spPr>
          <p:style>
            <a:lnRef idx="3">
              <a:schemeClr val="accent1"/>
            </a:lnRef>
            <a:fillRef idx="0">
              <a:schemeClr val="accent1"/>
            </a:fillRef>
            <a:effectRef idx="2">
              <a:schemeClr val="accent1"/>
            </a:effectRef>
            <a:fontRef idx="minor">
              <a:schemeClr val="tx1"/>
            </a:fontRef>
          </p:style>
        </p:cxnSp>
      </p:grpSp>
      <p:cxnSp>
        <p:nvCxnSpPr>
          <p:cNvPr id="60" name="Straight Connector 59">
            <a:extLst>
              <a:ext uri="{FF2B5EF4-FFF2-40B4-BE49-F238E27FC236}">
                <a16:creationId xmlns:a16="http://schemas.microsoft.com/office/drawing/2014/main" id="{DD6390AF-4AFB-FC23-CE8B-EF66FBDBB69A}"/>
              </a:ext>
            </a:extLst>
          </p:cNvPr>
          <p:cNvCxnSpPr>
            <a:cxnSpLocks/>
          </p:cNvCxnSpPr>
          <p:nvPr/>
        </p:nvCxnSpPr>
        <p:spPr>
          <a:xfrm>
            <a:off x="8995432" y="1873386"/>
            <a:ext cx="2417656" cy="1376"/>
          </a:xfrm>
          <a:prstGeom prst="line">
            <a:avLst/>
          </a:prstGeom>
        </p:spPr>
        <p:style>
          <a:lnRef idx="3">
            <a:schemeClr val="accent1"/>
          </a:lnRef>
          <a:fillRef idx="0">
            <a:schemeClr val="accent1"/>
          </a:fillRef>
          <a:effectRef idx="2">
            <a:schemeClr val="accent1"/>
          </a:effectRef>
          <a:fontRef idx="minor">
            <a:schemeClr val="tx1"/>
          </a:fontRef>
        </p:style>
      </p:cxnSp>
      <p:cxnSp>
        <p:nvCxnSpPr>
          <p:cNvPr id="62" name="Straight Connector 61">
            <a:extLst>
              <a:ext uri="{FF2B5EF4-FFF2-40B4-BE49-F238E27FC236}">
                <a16:creationId xmlns:a16="http://schemas.microsoft.com/office/drawing/2014/main" id="{41AB0CAD-E792-42B7-419F-396EDFBCD9C6}"/>
              </a:ext>
            </a:extLst>
          </p:cNvPr>
          <p:cNvCxnSpPr/>
          <p:nvPr/>
        </p:nvCxnSpPr>
        <p:spPr>
          <a:xfrm flipH="1">
            <a:off x="2219325" y="1066451"/>
            <a:ext cx="5607148" cy="0"/>
          </a:xfrm>
          <a:prstGeom prst="line">
            <a:avLst/>
          </a:prstGeom>
          <a:ln>
            <a:solidFill>
              <a:schemeClr val="accent1"/>
            </a:solidFill>
          </a:ln>
        </p:spPr>
        <p:style>
          <a:lnRef idx="3">
            <a:schemeClr val="accent1"/>
          </a:lnRef>
          <a:fillRef idx="0">
            <a:schemeClr val="accent1"/>
          </a:fillRef>
          <a:effectRef idx="2">
            <a:schemeClr val="accent1"/>
          </a:effectRef>
          <a:fontRef idx="minor">
            <a:schemeClr val="tx1"/>
          </a:fontRef>
        </p:style>
      </p:cxnSp>
      <p:pic>
        <p:nvPicPr>
          <p:cNvPr id="1025" name="Picture 1024">
            <a:extLst>
              <a:ext uri="{FF2B5EF4-FFF2-40B4-BE49-F238E27FC236}">
                <a16:creationId xmlns:a16="http://schemas.microsoft.com/office/drawing/2014/main" id="{964B5C70-8A7B-FE50-0EC4-B6B14DCADF15}"/>
              </a:ext>
            </a:extLst>
          </p:cNvPr>
          <p:cNvPicPr>
            <a:picLocks noChangeAspect="1"/>
          </p:cNvPicPr>
          <p:nvPr/>
        </p:nvPicPr>
        <p:blipFill rotWithShape="1">
          <a:blip r:embed="rId9"/>
          <a:srcRect l="79387" t="1" b="-27352"/>
          <a:stretch/>
        </p:blipFill>
        <p:spPr>
          <a:xfrm rot="10800000" flipV="1">
            <a:off x="2093182" y="857944"/>
            <a:ext cx="130835" cy="445794"/>
          </a:xfrm>
          <a:prstGeom prst="rect">
            <a:avLst/>
          </a:prstGeom>
        </p:spPr>
      </p:pic>
      <p:cxnSp>
        <p:nvCxnSpPr>
          <p:cNvPr id="1031" name="Straight Connector 1030">
            <a:extLst>
              <a:ext uri="{FF2B5EF4-FFF2-40B4-BE49-F238E27FC236}">
                <a16:creationId xmlns:a16="http://schemas.microsoft.com/office/drawing/2014/main" id="{544C690D-9954-9FF0-989B-F17456882BEC}"/>
              </a:ext>
            </a:extLst>
          </p:cNvPr>
          <p:cNvCxnSpPr>
            <a:cxnSpLocks/>
          </p:cNvCxnSpPr>
          <p:nvPr/>
        </p:nvCxnSpPr>
        <p:spPr>
          <a:xfrm>
            <a:off x="6829161" y="2144151"/>
            <a:ext cx="4583927" cy="0"/>
          </a:xfrm>
          <a:prstGeom prst="line">
            <a:avLst/>
          </a:prstGeom>
        </p:spPr>
        <p:style>
          <a:lnRef idx="3">
            <a:schemeClr val="accent1"/>
          </a:lnRef>
          <a:fillRef idx="0">
            <a:schemeClr val="accent1"/>
          </a:fillRef>
          <a:effectRef idx="2">
            <a:schemeClr val="accent1"/>
          </a:effectRef>
          <a:fontRef idx="minor">
            <a:schemeClr val="tx1"/>
          </a:fontRef>
        </p:style>
      </p:cxnSp>
      <p:pic>
        <p:nvPicPr>
          <p:cNvPr id="1036" name="Picture 1035">
            <a:extLst>
              <a:ext uri="{FF2B5EF4-FFF2-40B4-BE49-F238E27FC236}">
                <a16:creationId xmlns:a16="http://schemas.microsoft.com/office/drawing/2014/main" id="{F587EB2C-AB62-0E04-7504-FB01BB8593C8}"/>
              </a:ext>
            </a:extLst>
          </p:cNvPr>
          <p:cNvPicPr>
            <a:picLocks noChangeAspect="1"/>
          </p:cNvPicPr>
          <p:nvPr/>
        </p:nvPicPr>
        <p:blipFill>
          <a:blip r:embed="rId9"/>
          <a:stretch>
            <a:fillRect/>
          </a:stretch>
        </p:blipFill>
        <p:spPr>
          <a:xfrm rot="5400000" flipV="1">
            <a:off x="6501030" y="2262638"/>
            <a:ext cx="561596" cy="350049"/>
          </a:xfrm>
          <a:prstGeom prst="rect">
            <a:avLst/>
          </a:prstGeom>
        </p:spPr>
      </p:pic>
      <p:cxnSp>
        <p:nvCxnSpPr>
          <p:cNvPr id="1037" name="Straight Connector 1036">
            <a:extLst>
              <a:ext uri="{FF2B5EF4-FFF2-40B4-BE49-F238E27FC236}">
                <a16:creationId xmlns:a16="http://schemas.microsoft.com/office/drawing/2014/main" id="{617DA16B-1946-1648-8EC4-250A4CC2C8B1}"/>
              </a:ext>
            </a:extLst>
          </p:cNvPr>
          <p:cNvCxnSpPr>
            <a:cxnSpLocks/>
          </p:cNvCxnSpPr>
          <p:nvPr/>
        </p:nvCxnSpPr>
        <p:spPr>
          <a:xfrm>
            <a:off x="4580467" y="2676899"/>
            <a:ext cx="2201362" cy="0"/>
          </a:xfrm>
          <a:prstGeom prst="line">
            <a:avLst/>
          </a:prstGeom>
        </p:spPr>
        <p:style>
          <a:lnRef idx="3">
            <a:schemeClr val="accent1"/>
          </a:lnRef>
          <a:fillRef idx="0">
            <a:schemeClr val="accent1"/>
          </a:fillRef>
          <a:effectRef idx="2">
            <a:schemeClr val="accent1"/>
          </a:effectRef>
          <a:fontRef idx="minor">
            <a:schemeClr val="tx1"/>
          </a:fontRef>
        </p:style>
      </p:cxnSp>
      <p:pic>
        <p:nvPicPr>
          <p:cNvPr id="1043" name="Picture 1042">
            <a:extLst>
              <a:ext uri="{FF2B5EF4-FFF2-40B4-BE49-F238E27FC236}">
                <a16:creationId xmlns:a16="http://schemas.microsoft.com/office/drawing/2014/main" id="{6BA1EC19-8F27-13E5-DB6D-3BEAA4BD49A5}"/>
              </a:ext>
            </a:extLst>
          </p:cNvPr>
          <p:cNvPicPr>
            <a:picLocks noChangeAspect="1"/>
          </p:cNvPicPr>
          <p:nvPr/>
        </p:nvPicPr>
        <p:blipFill rotWithShape="1">
          <a:blip r:embed="rId9"/>
          <a:srcRect l="79387" t="1" b="-27352"/>
          <a:stretch/>
        </p:blipFill>
        <p:spPr>
          <a:xfrm rot="10800000" flipV="1">
            <a:off x="4460786" y="2470936"/>
            <a:ext cx="130835" cy="445794"/>
          </a:xfrm>
          <a:prstGeom prst="rect">
            <a:avLst/>
          </a:prstGeom>
        </p:spPr>
      </p:pic>
      <p:pic>
        <p:nvPicPr>
          <p:cNvPr id="1047" name="Picture 1046">
            <a:extLst>
              <a:ext uri="{FF2B5EF4-FFF2-40B4-BE49-F238E27FC236}">
                <a16:creationId xmlns:a16="http://schemas.microsoft.com/office/drawing/2014/main" id="{40020D5B-94C3-FA23-E780-545BE245E4AE}"/>
              </a:ext>
            </a:extLst>
          </p:cNvPr>
          <p:cNvPicPr>
            <a:picLocks noChangeAspect="1"/>
          </p:cNvPicPr>
          <p:nvPr/>
        </p:nvPicPr>
        <p:blipFill>
          <a:blip r:embed="rId9"/>
          <a:stretch>
            <a:fillRect/>
          </a:stretch>
        </p:blipFill>
        <p:spPr>
          <a:xfrm rot="16200000">
            <a:off x="9380674" y="3032108"/>
            <a:ext cx="556518" cy="227217"/>
          </a:xfrm>
          <a:prstGeom prst="rect">
            <a:avLst/>
          </a:prstGeom>
        </p:spPr>
      </p:pic>
      <p:cxnSp>
        <p:nvCxnSpPr>
          <p:cNvPr id="1048" name="Straight Connector 1047">
            <a:extLst>
              <a:ext uri="{FF2B5EF4-FFF2-40B4-BE49-F238E27FC236}">
                <a16:creationId xmlns:a16="http://schemas.microsoft.com/office/drawing/2014/main" id="{DFC56BF6-B5A3-10CB-D777-0CDFF67D058F}"/>
              </a:ext>
            </a:extLst>
          </p:cNvPr>
          <p:cNvCxnSpPr>
            <a:cxnSpLocks/>
          </p:cNvCxnSpPr>
          <p:nvPr/>
        </p:nvCxnSpPr>
        <p:spPr>
          <a:xfrm flipH="1">
            <a:off x="7532914" y="2907941"/>
            <a:ext cx="2112296"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055" name="Straight Connector 1054">
            <a:extLst>
              <a:ext uri="{FF2B5EF4-FFF2-40B4-BE49-F238E27FC236}">
                <a16:creationId xmlns:a16="http://schemas.microsoft.com/office/drawing/2014/main" id="{1F67A80C-57C7-82AD-30E9-193536ED5C6E}"/>
              </a:ext>
            </a:extLst>
          </p:cNvPr>
          <p:cNvCxnSpPr>
            <a:cxnSpLocks/>
          </p:cNvCxnSpPr>
          <p:nvPr/>
        </p:nvCxnSpPr>
        <p:spPr>
          <a:xfrm>
            <a:off x="9680706" y="3423976"/>
            <a:ext cx="1640437"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060" name="Straight Connector 1059">
            <a:extLst>
              <a:ext uri="{FF2B5EF4-FFF2-40B4-BE49-F238E27FC236}">
                <a16:creationId xmlns:a16="http://schemas.microsoft.com/office/drawing/2014/main" id="{3F68721A-AEC4-C684-17F1-FAFBC275C499}"/>
              </a:ext>
            </a:extLst>
          </p:cNvPr>
          <p:cNvCxnSpPr>
            <a:cxnSpLocks/>
          </p:cNvCxnSpPr>
          <p:nvPr/>
        </p:nvCxnSpPr>
        <p:spPr>
          <a:xfrm>
            <a:off x="7532914" y="2907941"/>
            <a:ext cx="0" cy="194488"/>
          </a:xfrm>
          <a:prstGeom prst="line">
            <a:avLst/>
          </a:prstGeom>
        </p:spPr>
        <p:style>
          <a:lnRef idx="3">
            <a:schemeClr val="accent1"/>
          </a:lnRef>
          <a:fillRef idx="0">
            <a:schemeClr val="accent1"/>
          </a:fillRef>
          <a:effectRef idx="2">
            <a:schemeClr val="accent1"/>
          </a:effectRef>
          <a:fontRef idx="minor">
            <a:schemeClr val="tx1"/>
          </a:fontRef>
        </p:style>
      </p:cxnSp>
      <p:cxnSp>
        <p:nvCxnSpPr>
          <p:cNvPr id="1062" name="Straight Connector 1061">
            <a:extLst>
              <a:ext uri="{FF2B5EF4-FFF2-40B4-BE49-F238E27FC236}">
                <a16:creationId xmlns:a16="http://schemas.microsoft.com/office/drawing/2014/main" id="{AA7213C3-2A33-3369-AA5F-D39BB0639A2D}"/>
              </a:ext>
            </a:extLst>
          </p:cNvPr>
          <p:cNvCxnSpPr>
            <a:cxnSpLocks/>
          </p:cNvCxnSpPr>
          <p:nvPr/>
        </p:nvCxnSpPr>
        <p:spPr>
          <a:xfrm flipH="1">
            <a:off x="7357985" y="3118501"/>
            <a:ext cx="178503" cy="0"/>
          </a:xfrm>
          <a:prstGeom prst="line">
            <a:avLst/>
          </a:prstGeom>
        </p:spPr>
        <p:style>
          <a:lnRef idx="3">
            <a:schemeClr val="accent1"/>
          </a:lnRef>
          <a:fillRef idx="0">
            <a:schemeClr val="accent1"/>
          </a:fillRef>
          <a:effectRef idx="2">
            <a:schemeClr val="accent1"/>
          </a:effectRef>
          <a:fontRef idx="minor">
            <a:schemeClr val="tx1"/>
          </a:fontRef>
        </p:style>
      </p:cxnSp>
      <p:pic>
        <p:nvPicPr>
          <p:cNvPr id="1064" name="Picture 1063">
            <a:extLst>
              <a:ext uri="{FF2B5EF4-FFF2-40B4-BE49-F238E27FC236}">
                <a16:creationId xmlns:a16="http://schemas.microsoft.com/office/drawing/2014/main" id="{9453ED9E-A77F-8E64-99A9-E23405F41FF9}"/>
              </a:ext>
            </a:extLst>
          </p:cNvPr>
          <p:cNvPicPr>
            <a:picLocks noChangeAspect="1"/>
          </p:cNvPicPr>
          <p:nvPr/>
        </p:nvPicPr>
        <p:blipFill rotWithShape="1">
          <a:blip r:embed="rId9"/>
          <a:srcRect l="79387" t="1" b="-27352"/>
          <a:stretch/>
        </p:blipFill>
        <p:spPr>
          <a:xfrm rot="10800000" flipV="1">
            <a:off x="7230653" y="2912866"/>
            <a:ext cx="130835" cy="445794"/>
          </a:xfrm>
          <a:prstGeom prst="rect">
            <a:avLst/>
          </a:prstGeom>
        </p:spPr>
      </p:pic>
      <p:sp>
        <p:nvSpPr>
          <p:cNvPr id="10" name="Rectangle 1">
            <a:extLst>
              <a:ext uri="{FF2B5EF4-FFF2-40B4-BE49-F238E27FC236}">
                <a16:creationId xmlns:a16="http://schemas.microsoft.com/office/drawing/2014/main" id="{0F00E13C-1374-051E-90EC-9B97953F4B7F}"/>
              </a:ext>
            </a:extLst>
          </p:cNvPr>
          <p:cNvSpPr>
            <a:spLocks noChangeArrowheads="1"/>
          </p:cNvSpPr>
          <p:nvPr/>
        </p:nvSpPr>
        <p:spPr bwMode="auto">
          <a:xfrm>
            <a:off x="2297297" y="2775495"/>
            <a:ext cx="2558836"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Britannic Bold" panose="020B0903060703020204" pitchFamily="34" charset="0"/>
              </a:rPr>
              <a:t>Geospatial Database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Britannic Bold" panose="020B0903060703020204" pitchFamily="34" charset="0"/>
              </a:rPr>
              <a:t>GPS Data Processing Algorithm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Britannic Bold" panose="020B0903060703020204" pitchFamily="34" charset="0"/>
              </a:rPr>
              <a:t>LoRa Communication Protocol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Britannic Bold" panose="020B0903060703020204" pitchFamily="34" charset="0"/>
              </a:rPr>
              <a:t>Alert Notification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Britannic Bold" panose="020B0903060703020204" pitchFamily="34" charset="0"/>
              </a:rPr>
              <a:t>Admin Dashboard (Host System - Web/App)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Britannic Bold" panose="020B0903060703020204" pitchFamily="34" charset="0"/>
              </a:rPr>
              <a:t>Client Mobile App</a:t>
            </a:r>
          </a:p>
        </p:txBody>
      </p:sp>
      <p:pic>
        <p:nvPicPr>
          <p:cNvPr id="17" name="Picture 16">
            <a:extLst>
              <a:ext uri="{FF2B5EF4-FFF2-40B4-BE49-F238E27FC236}">
                <a16:creationId xmlns:a16="http://schemas.microsoft.com/office/drawing/2014/main" id="{62218CB9-A34F-F18C-FD5D-5DFCEA51410E}"/>
              </a:ext>
            </a:extLst>
          </p:cNvPr>
          <p:cNvPicPr>
            <a:picLocks noChangeAspect="1"/>
          </p:cNvPicPr>
          <p:nvPr/>
        </p:nvPicPr>
        <p:blipFill>
          <a:blip r:embed="rId10"/>
          <a:stretch>
            <a:fillRect/>
          </a:stretch>
        </p:blipFill>
        <p:spPr>
          <a:xfrm flipH="1">
            <a:off x="2294186" y="1960484"/>
            <a:ext cx="745208" cy="745208"/>
          </a:xfrm>
          <a:prstGeom prst="rect">
            <a:avLst/>
          </a:prstGeom>
        </p:spPr>
      </p:pic>
      <p:sp>
        <p:nvSpPr>
          <p:cNvPr id="18" name="Rectangle 2">
            <a:extLst>
              <a:ext uri="{FF2B5EF4-FFF2-40B4-BE49-F238E27FC236}">
                <a16:creationId xmlns:a16="http://schemas.microsoft.com/office/drawing/2014/main" id="{FA0F5558-2CC7-18A4-BC68-591CF16D009C}"/>
              </a:ext>
            </a:extLst>
          </p:cNvPr>
          <p:cNvSpPr>
            <a:spLocks noChangeArrowheads="1"/>
          </p:cNvSpPr>
          <p:nvPr/>
        </p:nvSpPr>
        <p:spPr bwMode="auto">
          <a:xfrm>
            <a:off x="158998" y="1245738"/>
            <a:ext cx="2017933"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Britannic Bold" panose="020B0903060703020204" pitchFamily="34" charset="0"/>
              </a:rPr>
              <a:t>GPS Module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Britannic Bold" panose="020B0903060703020204" pitchFamily="34" charset="0"/>
              </a:rPr>
              <a:t>LoRa Transmitter &amp; Receiver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Britannic Bold" panose="020B0903060703020204" pitchFamily="34" charset="0"/>
              </a:rPr>
              <a:t>Microcontroller (ESP32/Arduino)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Britannic Bold" panose="020B0903060703020204" pitchFamily="34" charset="0"/>
              </a:rPr>
              <a:t>Power Source (Battery/Solar Panel)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Britannic Bold" panose="020B0903060703020204" pitchFamily="34" charset="0"/>
              </a:rPr>
              <a:t>Buzzer/Vibration Motor</a:t>
            </a:r>
          </a:p>
        </p:txBody>
      </p:sp>
      <p:pic>
        <p:nvPicPr>
          <p:cNvPr id="21" name="Picture 20">
            <a:extLst>
              <a:ext uri="{FF2B5EF4-FFF2-40B4-BE49-F238E27FC236}">
                <a16:creationId xmlns:a16="http://schemas.microsoft.com/office/drawing/2014/main" id="{880C8076-26C6-1D3D-492A-3FD389DF9335}"/>
              </a:ext>
            </a:extLst>
          </p:cNvPr>
          <p:cNvPicPr>
            <a:picLocks noChangeAspect="1"/>
          </p:cNvPicPr>
          <p:nvPr/>
        </p:nvPicPr>
        <p:blipFill>
          <a:blip r:embed="rId11"/>
          <a:stretch>
            <a:fillRect/>
          </a:stretch>
        </p:blipFill>
        <p:spPr>
          <a:xfrm>
            <a:off x="97930" y="544322"/>
            <a:ext cx="627243" cy="627243"/>
          </a:xfrm>
          <a:prstGeom prst="rect">
            <a:avLst/>
          </a:prstGeom>
        </p:spPr>
      </p:pic>
      <p:pic>
        <p:nvPicPr>
          <p:cNvPr id="24" name="Picture 23">
            <a:extLst>
              <a:ext uri="{FF2B5EF4-FFF2-40B4-BE49-F238E27FC236}">
                <a16:creationId xmlns:a16="http://schemas.microsoft.com/office/drawing/2014/main" id="{B6E903A2-4415-1599-7276-99CA230BDEDD}"/>
              </a:ext>
            </a:extLst>
          </p:cNvPr>
          <p:cNvPicPr>
            <a:picLocks noChangeAspect="1"/>
          </p:cNvPicPr>
          <p:nvPr/>
        </p:nvPicPr>
        <p:blipFill>
          <a:blip r:embed="rId12"/>
          <a:stretch>
            <a:fillRect/>
          </a:stretch>
        </p:blipFill>
        <p:spPr>
          <a:xfrm>
            <a:off x="9205077" y="4831403"/>
            <a:ext cx="369332" cy="369332"/>
          </a:xfrm>
          <a:prstGeom prst="rect">
            <a:avLst/>
          </a:prstGeom>
        </p:spPr>
      </p:pic>
      <p:pic>
        <p:nvPicPr>
          <p:cNvPr id="26" name="Picture 25">
            <a:extLst>
              <a:ext uri="{FF2B5EF4-FFF2-40B4-BE49-F238E27FC236}">
                <a16:creationId xmlns:a16="http://schemas.microsoft.com/office/drawing/2014/main" id="{C798BEDA-099F-042F-5476-2C29AF44E4B0}"/>
              </a:ext>
            </a:extLst>
          </p:cNvPr>
          <p:cNvPicPr>
            <a:picLocks noChangeAspect="1"/>
          </p:cNvPicPr>
          <p:nvPr/>
        </p:nvPicPr>
        <p:blipFill>
          <a:blip r:embed="rId13"/>
          <a:stretch>
            <a:fillRect/>
          </a:stretch>
        </p:blipFill>
        <p:spPr>
          <a:xfrm>
            <a:off x="9221838" y="6093211"/>
            <a:ext cx="369332" cy="369332"/>
          </a:xfrm>
          <a:prstGeom prst="rect">
            <a:avLst/>
          </a:prstGeom>
        </p:spPr>
      </p:pic>
      <p:sp>
        <p:nvSpPr>
          <p:cNvPr id="2" name="TextBox 1">
            <a:extLst>
              <a:ext uri="{FF2B5EF4-FFF2-40B4-BE49-F238E27FC236}">
                <a16:creationId xmlns:a16="http://schemas.microsoft.com/office/drawing/2014/main" id="{50AEBE92-484E-F50F-A7AA-FE7E6F7F7EC8}"/>
              </a:ext>
            </a:extLst>
          </p:cNvPr>
          <p:cNvSpPr txBox="1"/>
          <p:nvPr/>
        </p:nvSpPr>
        <p:spPr>
          <a:xfrm>
            <a:off x="3057069" y="333391"/>
            <a:ext cx="5519772" cy="523220"/>
          </a:xfrm>
          <a:prstGeom prst="rect">
            <a:avLst/>
          </a:prstGeom>
          <a:noFill/>
        </p:spPr>
        <p:txBody>
          <a:bodyPr wrap="square" rtlCol="0">
            <a:spAutoFit/>
          </a:bodyPr>
          <a:lstStyle/>
          <a:p>
            <a:r>
              <a:rPr lang="en-IN" sz="2800" dirty="0">
                <a:latin typeface="Aharoni" panose="02010803020104030203" pitchFamily="2" charset="-79"/>
                <a:cs typeface="Aharoni" panose="02010803020104030203" pitchFamily="2" charset="-79"/>
              </a:rPr>
              <a:t>          TECHNOLOGIES USED</a:t>
            </a:r>
          </a:p>
        </p:txBody>
      </p:sp>
    </p:spTree>
    <p:extLst>
      <p:ext uri="{BB962C8B-B14F-4D97-AF65-F5344CB8AC3E}">
        <p14:creationId xmlns:p14="http://schemas.microsoft.com/office/powerpoint/2010/main" val="403260404"/>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6292B-96A7-F51E-49B3-CB3C3F3F0507}"/>
              </a:ext>
            </a:extLst>
          </p:cNvPr>
          <p:cNvSpPr>
            <a:spLocks noGrp="1"/>
          </p:cNvSpPr>
          <p:nvPr>
            <p:ph type="title"/>
          </p:nvPr>
        </p:nvSpPr>
        <p:spPr>
          <a:xfrm>
            <a:off x="919119" y="293584"/>
            <a:ext cx="10353762" cy="1257300"/>
          </a:xfrm>
        </p:spPr>
        <p:txBody>
          <a:bodyPr>
            <a:normAutofit/>
          </a:bodyPr>
          <a:lstStyle/>
          <a:p>
            <a:r>
              <a:rPr lang="en-IN" sz="4000" b="1" dirty="0">
                <a:solidFill>
                  <a:srgbClr val="1A86A9"/>
                </a:solidFill>
                <a:effectLst/>
                <a:latin typeface="Aharoni" panose="02010803020104030203" pitchFamily="2" charset="-79"/>
                <a:cs typeface="Aharoni" panose="02010803020104030203" pitchFamily="2" charset="-79"/>
              </a:rPr>
              <a:t>FUTURE ENHANCEMENTS</a:t>
            </a:r>
          </a:p>
        </p:txBody>
      </p:sp>
      <p:sp>
        <p:nvSpPr>
          <p:cNvPr id="5" name="Rectangle 2">
            <a:extLst>
              <a:ext uri="{FF2B5EF4-FFF2-40B4-BE49-F238E27FC236}">
                <a16:creationId xmlns:a16="http://schemas.microsoft.com/office/drawing/2014/main" id="{C5FE7809-FF1A-4ADC-E30F-BD530EA0BEEC}"/>
              </a:ext>
            </a:extLst>
          </p:cNvPr>
          <p:cNvSpPr>
            <a:spLocks noChangeArrowheads="1"/>
          </p:cNvSpPr>
          <p:nvPr/>
        </p:nvSpPr>
        <p:spPr bwMode="auto">
          <a:xfrm>
            <a:off x="606508" y="1402641"/>
            <a:ext cx="11585492" cy="4670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000" b="0" i="0" u="none" strike="noStrike" cap="none" normalizeH="0" baseline="0" dirty="0">
                <a:ln>
                  <a:noFill/>
                </a:ln>
                <a:solidFill>
                  <a:schemeClr val="tx1"/>
                </a:solidFill>
                <a:effectLst/>
                <a:latin typeface="Aharoni" panose="02010803020104030203" pitchFamily="2" charset="-79"/>
                <a:cs typeface="Aharoni" panose="02010803020104030203" pitchFamily="2" charset="-79"/>
              </a:rPr>
              <a:t>Integrate </a:t>
            </a:r>
            <a:r>
              <a:rPr kumimoji="0" lang="en-US" altLang="en-US" sz="2000" b="1" i="0" u="none" strike="noStrike" cap="none" normalizeH="0" baseline="0" dirty="0">
                <a:ln>
                  <a:noFill/>
                </a:ln>
                <a:solidFill>
                  <a:schemeClr val="tx1"/>
                </a:solidFill>
                <a:effectLst/>
                <a:latin typeface="Aharoni" panose="02010803020104030203" pitchFamily="2" charset="-79"/>
                <a:cs typeface="Aharoni" panose="02010803020104030203" pitchFamily="2" charset="-79"/>
              </a:rPr>
              <a:t>predictive analytics</a:t>
            </a:r>
            <a:r>
              <a:rPr kumimoji="0" lang="en-US" altLang="en-US" sz="2000" b="0" i="0" u="none" strike="noStrike" cap="none" normalizeH="0" baseline="0" dirty="0">
                <a:ln>
                  <a:noFill/>
                </a:ln>
                <a:solidFill>
                  <a:schemeClr val="tx1"/>
                </a:solidFill>
                <a:effectLst/>
                <a:latin typeface="Aharoni" panose="02010803020104030203" pitchFamily="2" charset="-79"/>
                <a:cs typeface="Aharoni" panose="02010803020104030203" pitchFamily="2" charset="-79"/>
              </a:rPr>
              <a:t> to forecast vessel routes and preemptively warn of potential border violations.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000" b="0" i="0" u="none" strike="noStrike" cap="none" normalizeH="0" baseline="0" dirty="0">
                <a:ln>
                  <a:noFill/>
                </a:ln>
                <a:solidFill>
                  <a:schemeClr val="tx1"/>
                </a:solidFill>
                <a:effectLst/>
                <a:latin typeface="Aharoni" panose="02010803020104030203" pitchFamily="2" charset="-79"/>
                <a:cs typeface="Aharoni" panose="02010803020104030203" pitchFamily="2" charset="-79"/>
              </a:rPr>
              <a:t>Incorporate </a:t>
            </a:r>
            <a:r>
              <a:rPr kumimoji="0" lang="en-US" altLang="en-US" sz="2000" b="1" i="0" u="none" strike="noStrike" cap="none" normalizeH="0" baseline="0" dirty="0">
                <a:ln>
                  <a:noFill/>
                </a:ln>
                <a:solidFill>
                  <a:schemeClr val="tx1"/>
                </a:solidFill>
                <a:effectLst/>
                <a:latin typeface="Aharoni" panose="02010803020104030203" pitchFamily="2" charset="-79"/>
                <a:cs typeface="Aharoni" panose="02010803020104030203" pitchFamily="2" charset="-79"/>
              </a:rPr>
              <a:t>AI-powered image recognition</a:t>
            </a:r>
            <a:r>
              <a:rPr kumimoji="0" lang="en-US" altLang="en-US" sz="2000" b="0" i="0" u="none" strike="noStrike" cap="none" normalizeH="0" baseline="0" dirty="0">
                <a:ln>
                  <a:noFill/>
                </a:ln>
                <a:solidFill>
                  <a:schemeClr val="tx1"/>
                </a:solidFill>
                <a:effectLst/>
                <a:latin typeface="Aharoni" panose="02010803020104030203" pitchFamily="2" charset="-79"/>
                <a:cs typeface="Aharoni" panose="02010803020104030203" pitchFamily="2" charset="-79"/>
              </a:rPr>
              <a:t> using onboard cameras to identify and classify nearby vessels or obstacles.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000" b="0" i="0" u="none" strike="noStrike" cap="none" normalizeH="0" baseline="0" dirty="0">
                <a:ln>
                  <a:noFill/>
                </a:ln>
                <a:solidFill>
                  <a:schemeClr val="tx1"/>
                </a:solidFill>
                <a:effectLst/>
                <a:latin typeface="Aharoni" panose="02010803020104030203" pitchFamily="2" charset="-79"/>
                <a:cs typeface="Aharoni" panose="02010803020104030203" pitchFamily="2" charset="-79"/>
              </a:rPr>
              <a:t>Add support for </a:t>
            </a:r>
            <a:r>
              <a:rPr kumimoji="0" lang="en-US" altLang="en-US" sz="2000" b="1" i="0" u="none" strike="noStrike" cap="none" normalizeH="0" baseline="0" dirty="0">
                <a:ln>
                  <a:noFill/>
                </a:ln>
                <a:solidFill>
                  <a:schemeClr val="tx1"/>
                </a:solidFill>
                <a:effectLst/>
                <a:latin typeface="Aharoni" panose="02010803020104030203" pitchFamily="2" charset="-79"/>
                <a:cs typeface="Aharoni" panose="02010803020104030203" pitchFamily="2" charset="-79"/>
              </a:rPr>
              <a:t>two-way communication</a:t>
            </a:r>
            <a:r>
              <a:rPr kumimoji="0" lang="en-US" altLang="en-US" sz="2000" b="0" i="0" u="none" strike="noStrike" cap="none" normalizeH="0" baseline="0" dirty="0">
                <a:ln>
                  <a:noFill/>
                </a:ln>
                <a:solidFill>
                  <a:schemeClr val="tx1"/>
                </a:solidFill>
                <a:effectLst/>
                <a:latin typeface="Aharoni" panose="02010803020104030203" pitchFamily="2" charset="-79"/>
                <a:cs typeface="Aharoni" panose="02010803020104030203" pitchFamily="2" charset="-79"/>
              </a:rPr>
              <a:t>, allowing fishermen to request help or clarification when alerts are triggered.</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000" b="0" i="0" u="none" strike="noStrike" cap="none" normalizeH="0" baseline="0" dirty="0">
                <a:ln>
                  <a:noFill/>
                </a:ln>
                <a:solidFill>
                  <a:schemeClr val="tx1"/>
                </a:solidFill>
                <a:effectLst/>
                <a:latin typeface="Aharoni" panose="02010803020104030203" pitchFamily="2" charset="-79"/>
                <a:cs typeface="Aharoni" panose="02010803020104030203" pitchFamily="2" charset="-79"/>
              </a:rPr>
              <a:t>Expand the system to include </a:t>
            </a:r>
            <a:r>
              <a:rPr kumimoji="0" lang="en-US" altLang="en-US" sz="2000" b="1" i="0" u="none" strike="noStrike" cap="none" normalizeH="0" baseline="0" dirty="0">
                <a:ln>
                  <a:noFill/>
                </a:ln>
                <a:solidFill>
                  <a:schemeClr val="tx1"/>
                </a:solidFill>
                <a:effectLst/>
                <a:latin typeface="Aharoni" panose="02010803020104030203" pitchFamily="2" charset="-79"/>
                <a:cs typeface="Aharoni" panose="02010803020104030203" pitchFamily="2" charset="-79"/>
              </a:rPr>
              <a:t>environmental monitoring</a:t>
            </a:r>
            <a:r>
              <a:rPr kumimoji="0" lang="en-US" altLang="en-US" sz="2000" b="0" i="0" u="none" strike="noStrike" cap="none" normalizeH="0" baseline="0" dirty="0">
                <a:ln>
                  <a:noFill/>
                </a:ln>
                <a:solidFill>
                  <a:schemeClr val="tx1"/>
                </a:solidFill>
                <a:effectLst/>
                <a:latin typeface="Aharoni" panose="02010803020104030203" pitchFamily="2" charset="-79"/>
                <a:cs typeface="Aharoni" panose="02010803020104030203" pitchFamily="2" charset="-79"/>
              </a:rPr>
              <a:t> (e.g., weather conditions, sea state) to enhance overall maritime safety.</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000" b="0" i="0" u="none" strike="noStrike" cap="none" normalizeH="0" baseline="0" dirty="0">
                <a:ln>
                  <a:noFill/>
                </a:ln>
                <a:solidFill>
                  <a:schemeClr val="tx1"/>
                </a:solidFill>
                <a:effectLst/>
                <a:latin typeface="Aharoni" panose="02010803020104030203" pitchFamily="2" charset="-79"/>
                <a:cs typeface="Aharoni" panose="02010803020104030203" pitchFamily="2" charset="-79"/>
              </a:rPr>
              <a:t>Explore </a:t>
            </a:r>
            <a:r>
              <a:rPr kumimoji="0" lang="en-US" altLang="en-US" sz="2000" b="1" i="0" u="none" strike="noStrike" cap="none" normalizeH="0" baseline="0" dirty="0">
                <a:ln>
                  <a:noFill/>
                </a:ln>
                <a:solidFill>
                  <a:schemeClr val="tx1"/>
                </a:solidFill>
                <a:effectLst/>
                <a:latin typeface="Aharoni" panose="02010803020104030203" pitchFamily="2" charset="-79"/>
                <a:cs typeface="Aharoni" panose="02010803020104030203" pitchFamily="2" charset="-79"/>
              </a:rPr>
              <a:t>blockchain-based data logging</a:t>
            </a:r>
            <a:r>
              <a:rPr kumimoji="0" lang="en-US" altLang="en-US" sz="2000" b="0" i="0" u="none" strike="noStrike" cap="none" normalizeH="0" baseline="0" dirty="0">
                <a:ln>
                  <a:noFill/>
                </a:ln>
                <a:solidFill>
                  <a:schemeClr val="tx1"/>
                </a:solidFill>
                <a:effectLst/>
                <a:latin typeface="Aharoni" panose="02010803020104030203" pitchFamily="2" charset="-79"/>
                <a:cs typeface="Aharoni" panose="02010803020104030203" pitchFamily="2" charset="-79"/>
              </a:rPr>
              <a:t> to secure vessel movement records for legal and compliance purposes.</a:t>
            </a:r>
          </a:p>
        </p:txBody>
      </p:sp>
    </p:spTree>
    <p:extLst>
      <p:ext uri="{BB962C8B-B14F-4D97-AF65-F5344CB8AC3E}">
        <p14:creationId xmlns:p14="http://schemas.microsoft.com/office/powerpoint/2010/main" val="12548344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49D85-87FB-0348-11A3-F23455990ED8}"/>
              </a:ext>
            </a:extLst>
          </p:cNvPr>
          <p:cNvSpPr>
            <a:spLocks noGrp="1"/>
          </p:cNvSpPr>
          <p:nvPr>
            <p:ph type="title"/>
          </p:nvPr>
        </p:nvSpPr>
        <p:spPr>
          <a:xfrm>
            <a:off x="827382" y="609600"/>
            <a:ext cx="10353762" cy="1257300"/>
          </a:xfrm>
        </p:spPr>
        <p:txBody>
          <a:bodyPr>
            <a:normAutofit/>
          </a:bodyPr>
          <a:lstStyle/>
          <a:p>
            <a:r>
              <a:rPr lang="en-IN" sz="4000" b="1" dirty="0">
                <a:solidFill>
                  <a:srgbClr val="1A86A9"/>
                </a:solidFill>
                <a:effectLst/>
                <a:latin typeface="Aharoni" panose="02010803020104030203" pitchFamily="2" charset="-79"/>
                <a:cs typeface="Aharoni" panose="02010803020104030203" pitchFamily="2" charset="-79"/>
              </a:rPr>
              <a:t>REFERENCES</a:t>
            </a:r>
          </a:p>
        </p:txBody>
      </p:sp>
      <p:sp>
        <p:nvSpPr>
          <p:cNvPr id="3" name="TextBox 2">
            <a:extLst>
              <a:ext uri="{FF2B5EF4-FFF2-40B4-BE49-F238E27FC236}">
                <a16:creationId xmlns:a16="http://schemas.microsoft.com/office/drawing/2014/main" id="{8F85D468-A5BD-DE3C-4334-51A750C8D0DD}"/>
              </a:ext>
            </a:extLst>
          </p:cNvPr>
          <p:cNvSpPr txBox="1"/>
          <p:nvPr/>
        </p:nvSpPr>
        <p:spPr>
          <a:xfrm>
            <a:off x="827383" y="1866900"/>
            <a:ext cx="10353761" cy="5132174"/>
          </a:xfrm>
          <a:prstGeom prst="rect">
            <a:avLst/>
          </a:prstGeom>
          <a:noFill/>
        </p:spPr>
        <p:txBody>
          <a:bodyPr wrap="square" rtlCol="0">
            <a:spAutoFit/>
          </a:bodyPr>
          <a:lstStyle/>
          <a:p>
            <a:pPr marL="342900" indent="-342900">
              <a:lnSpc>
                <a:spcPct val="150000"/>
              </a:lnSpc>
              <a:buFont typeface="Wingdings" panose="05000000000000000000" pitchFamily="2" charset="2"/>
              <a:buChar char="q"/>
            </a:pPr>
            <a:r>
              <a:rPr lang="en-IN" sz="2000" dirty="0">
                <a:latin typeface="Aharoni" panose="02010803020104030203" pitchFamily="2" charset="-79"/>
                <a:cs typeface="Aharoni" panose="02010803020104030203" pitchFamily="2" charset="-79"/>
              </a:rPr>
              <a:t>A. </a:t>
            </a:r>
            <a:r>
              <a:rPr lang="en-IN" sz="2000" dirty="0" err="1">
                <a:latin typeface="Aharoni" panose="02010803020104030203" pitchFamily="2" charset="-79"/>
                <a:cs typeface="Aharoni" panose="02010803020104030203" pitchFamily="2" charset="-79"/>
              </a:rPr>
              <a:t>Čolaković</a:t>
            </a:r>
            <a:r>
              <a:rPr lang="en-IN" sz="2000" dirty="0">
                <a:latin typeface="Aharoni" panose="02010803020104030203" pitchFamily="2" charset="-79"/>
                <a:cs typeface="Aharoni" panose="02010803020104030203" pitchFamily="2" charset="-79"/>
              </a:rPr>
              <a:t> et al., </a:t>
            </a:r>
            <a:r>
              <a:rPr lang="en-IN" sz="2000" i="1" dirty="0">
                <a:latin typeface="Aharoni" panose="02010803020104030203" pitchFamily="2" charset="-79"/>
                <a:cs typeface="Aharoni" panose="02010803020104030203" pitchFamily="2" charset="-79"/>
              </a:rPr>
              <a:t>Internet of Things (IoT): A Review of Enabling Technologies, Challenges, and Open Research Issues</a:t>
            </a:r>
            <a:r>
              <a:rPr lang="en-IN" sz="2000" dirty="0">
                <a:latin typeface="Aharoni" panose="02010803020104030203" pitchFamily="2" charset="-79"/>
                <a:cs typeface="Aharoni" panose="02010803020104030203" pitchFamily="2" charset="-79"/>
              </a:rPr>
              <a:t>, 2018.</a:t>
            </a:r>
          </a:p>
          <a:p>
            <a:pPr marL="342900" indent="-342900">
              <a:lnSpc>
                <a:spcPct val="150000"/>
              </a:lnSpc>
              <a:buFont typeface="Wingdings" panose="05000000000000000000" pitchFamily="2" charset="2"/>
              <a:buChar char="q"/>
            </a:pPr>
            <a:r>
              <a:rPr lang="en-IN" sz="2000" dirty="0">
                <a:latin typeface="Aharoni" panose="02010803020104030203" pitchFamily="2" charset="-79"/>
                <a:cs typeface="Aharoni" panose="02010803020104030203" pitchFamily="2" charset="-79"/>
              </a:rPr>
              <a:t>S. Ahmed et al., </a:t>
            </a:r>
            <a:r>
              <a:rPr lang="en-IN" sz="2000" i="1" dirty="0">
                <a:latin typeface="Aharoni" panose="02010803020104030203" pitchFamily="2" charset="-79"/>
                <a:cs typeface="Aharoni" panose="02010803020104030203" pitchFamily="2" charset="-79"/>
              </a:rPr>
              <a:t>Real-Time Maritime Boundary Monitoring Using IoT and LoRa Technology</a:t>
            </a:r>
            <a:r>
              <a:rPr lang="en-IN" sz="2000" dirty="0">
                <a:latin typeface="Aharoni" panose="02010803020104030203" pitchFamily="2" charset="-79"/>
                <a:cs typeface="Aharoni" panose="02010803020104030203" pitchFamily="2" charset="-79"/>
              </a:rPr>
              <a:t>, Journal of Marine Systems, 2020.</a:t>
            </a:r>
          </a:p>
          <a:p>
            <a:pPr marL="342900" indent="-342900">
              <a:lnSpc>
                <a:spcPct val="150000"/>
              </a:lnSpc>
              <a:buFont typeface="Wingdings" panose="05000000000000000000" pitchFamily="2" charset="2"/>
              <a:buChar char="q"/>
            </a:pPr>
            <a:r>
              <a:rPr lang="en-IN" sz="2000" dirty="0">
                <a:latin typeface="Aharoni" panose="02010803020104030203" pitchFamily="2" charset="-79"/>
                <a:cs typeface="Aharoni" panose="02010803020104030203" pitchFamily="2" charset="-79"/>
              </a:rPr>
              <a:t>J. Lee et al., </a:t>
            </a:r>
            <a:r>
              <a:rPr lang="en-IN" sz="2000" i="1" dirty="0">
                <a:latin typeface="Aharoni" panose="02010803020104030203" pitchFamily="2" charset="-79"/>
                <a:cs typeface="Aharoni" panose="02010803020104030203" pitchFamily="2" charset="-79"/>
              </a:rPr>
              <a:t>GPS-Based Vessel Tracking for Maritime Safety and Border Security</a:t>
            </a:r>
            <a:r>
              <a:rPr lang="en-IN" sz="2000" dirty="0">
                <a:latin typeface="Aharoni" panose="02010803020104030203" pitchFamily="2" charset="-79"/>
                <a:cs typeface="Aharoni" panose="02010803020104030203" pitchFamily="2" charset="-79"/>
              </a:rPr>
              <a:t>, Ocean Engineering Journal, 2019.</a:t>
            </a:r>
          </a:p>
          <a:p>
            <a:pPr marL="342900" indent="-342900">
              <a:lnSpc>
                <a:spcPct val="150000"/>
              </a:lnSpc>
              <a:buFont typeface="Wingdings" panose="05000000000000000000" pitchFamily="2" charset="2"/>
              <a:buChar char="q"/>
            </a:pPr>
            <a:r>
              <a:rPr lang="en-IN" sz="2000" dirty="0">
                <a:latin typeface="Aharoni" panose="02010803020104030203" pitchFamily="2" charset="-79"/>
                <a:cs typeface="Aharoni" panose="02010803020104030203" pitchFamily="2" charset="-79"/>
              </a:rPr>
              <a:t>M. Z. Khan et al., </a:t>
            </a:r>
            <a:r>
              <a:rPr lang="en-IN" sz="2000" i="1" dirty="0">
                <a:latin typeface="Aharoni" panose="02010803020104030203" pitchFamily="2" charset="-79"/>
                <a:cs typeface="Aharoni" panose="02010803020104030203" pitchFamily="2" charset="-79"/>
              </a:rPr>
              <a:t>Application of </a:t>
            </a:r>
            <a:r>
              <a:rPr lang="en-IN" sz="2000" i="1" dirty="0" err="1">
                <a:latin typeface="Aharoni" panose="02010803020104030203" pitchFamily="2" charset="-79"/>
                <a:cs typeface="Aharoni" panose="02010803020104030203" pitchFamily="2" charset="-79"/>
              </a:rPr>
              <a:t>LoRaWAN</a:t>
            </a:r>
            <a:r>
              <a:rPr lang="en-IN" sz="2000" i="1" dirty="0">
                <a:latin typeface="Aharoni" panose="02010803020104030203" pitchFamily="2" charset="-79"/>
                <a:cs typeface="Aharoni" panose="02010803020104030203" pitchFamily="2" charset="-79"/>
              </a:rPr>
              <a:t> for Offshore Communication</a:t>
            </a:r>
            <a:r>
              <a:rPr lang="en-IN" sz="2000" dirty="0">
                <a:latin typeface="Aharoni" panose="02010803020104030203" pitchFamily="2" charset="-79"/>
                <a:cs typeface="Aharoni" panose="02010803020104030203" pitchFamily="2" charset="-79"/>
              </a:rPr>
              <a:t>, Sensors and Actuators A: Physical, 2021.</a:t>
            </a:r>
          </a:p>
          <a:p>
            <a:pPr marL="342900" indent="-342900">
              <a:lnSpc>
                <a:spcPct val="150000"/>
              </a:lnSpc>
              <a:buFont typeface="Wingdings" panose="05000000000000000000" pitchFamily="2" charset="2"/>
              <a:buChar char="q"/>
            </a:pPr>
            <a:r>
              <a:rPr lang="en-IN" sz="2000" dirty="0">
                <a:latin typeface="Aharoni" panose="02010803020104030203" pitchFamily="2" charset="-79"/>
                <a:cs typeface="Aharoni" panose="02010803020104030203" pitchFamily="2" charset="-79"/>
              </a:rPr>
              <a:t>International Maritime Organization (IMO), </a:t>
            </a:r>
            <a:r>
              <a:rPr lang="en-IN" sz="2000" i="1" dirty="0">
                <a:latin typeface="Aharoni" panose="02010803020104030203" pitchFamily="2" charset="-79"/>
                <a:cs typeface="Aharoni" panose="02010803020104030203" pitchFamily="2" charset="-79"/>
              </a:rPr>
              <a:t>Guidelines for Vessel Monitoring and Maritime Safety</a:t>
            </a:r>
            <a:r>
              <a:rPr lang="en-IN" sz="2000" dirty="0">
                <a:latin typeface="Aharoni" panose="02010803020104030203" pitchFamily="2" charset="-79"/>
                <a:cs typeface="Aharoni" panose="02010803020104030203" pitchFamily="2" charset="-79"/>
              </a:rPr>
              <a:t>, 2020.</a:t>
            </a:r>
          </a:p>
          <a:p>
            <a:pPr>
              <a:lnSpc>
                <a:spcPct val="150000"/>
              </a:lnSpc>
            </a:pPr>
            <a:endParaRPr lang="en-IN" sz="2000" dirty="0">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2829180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Arial Nova">
      <a:majorFont>
        <a:latin typeface="Arial Nova Light"/>
        <a:ea typeface=""/>
        <a:cs typeface=""/>
      </a:majorFont>
      <a:minorFont>
        <a:latin typeface="Arial Nova"/>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7E70FC5-1855-47AB-8CE1-CB3C873A8988}">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560E646-30AD-4BA0-97EA-A7A07DF549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0CB38EC-895A-4F8F-8F75-E263501ABB5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{EA222A19-B64D-4F60-8B1C-F1EC1C880E09}tf11665031_win32</Template>
  <TotalTime>1434</TotalTime>
  <Words>937</Words>
  <Application>Microsoft Office PowerPoint</Application>
  <PresentationFormat>Widescreen</PresentationFormat>
  <Paragraphs>127</Paragraphs>
  <Slides>13</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Aharoni</vt:lpstr>
      <vt:lpstr>Arial</vt:lpstr>
      <vt:lpstr>Arial Nova</vt:lpstr>
      <vt:lpstr>Arial Nova Light</vt:lpstr>
      <vt:lpstr>Britannic Bold</vt:lpstr>
      <vt:lpstr>Calibri</vt:lpstr>
      <vt:lpstr>Wingdings</vt:lpstr>
      <vt:lpstr>Wingdings 2</vt:lpstr>
      <vt:lpstr>SlateVTI</vt:lpstr>
      <vt:lpstr>PowerPoint Presentation</vt:lpstr>
      <vt:lpstr>PowerPoint Presentation</vt:lpstr>
      <vt:lpstr>PowerPoint Presentation</vt:lpstr>
      <vt:lpstr>OBJECTIVES</vt:lpstr>
      <vt:lpstr>LITERATURE SURVEY</vt:lpstr>
      <vt:lpstr>PowerPoint Presentation</vt:lpstr>
      <vt:lpstr>PowerPoint Presentation</vt:lpstr>
      <vt:lpstr>PowerPoint Presentation</vt:lpstr>
      <vt:lpstr>PowerPoint Presentation</vt:lpstr>
      <vt:lpstr>PowerPoint Presentation</vt:lpstr>
      <vt:lpstr>PowerPoint Presentation</vt:lpstr>
      <vt:lpstr>FUTURE ENHANCEMENTS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priyanka priya</dc:creator>
  <cp:lastModifiedBy>monishgopinath04@gmail.com</cp:lastModifiedBy>
  <cp:revision>6</cp:revision>
  <dcterms:created xsi:type="dcterms:W3CDTF">2024-08-15T13:06:27Z</dcterms:created>
  <dcterms:modified xsi:type="dcterms:W3CDTF">2025-05-02T16:55:19Z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